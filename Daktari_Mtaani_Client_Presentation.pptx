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8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D28"/>
        </a:solidFill>
      </p:bgPr>
    </p:bg>
    <p:spTree>
      <p:nvGrpSpPr>
        <p:cNvPr id="1" name=""/>
        <p:cNvGrpSpPr/>
        <p:nvPr/>
      </p:nvGrpSpPr>
      <p:grpSpPr>
        <a:xfrm>
          <a:off x="0" y="0"/>
          <a:ext cx="0" cy="0"/>
          <a:chOff x="0" y="0"/>
          <a:chExt cx="0" cy="0"/>
        </a:xfrm>
      </p:grpSpPr>
      <p:sp>
        <p:nvSpPr>
          <p:cNvPr id="2" name="Shape 0"/>
          <p:cNvSpPr/>
          <p:nvPr/>
        </p:nvSpPr>
        <p:spPr>
          <a:xfrm>
            <a:off x="8778240" y="822960"/>
            <a:ext cx="91440" cy="91440"/>
          </a:xfrm>
          <a:prstGeom prst="ellipse">
            <a:avLst/>
          </a:prstGeom>
          <a:solidFill>
            <a:srgbClr val="1D5A3C"/>
          </a:solidFill>
          <a:ln/>
        </p:spPr>
      </p:sp>
      <p:sp>
        <p:nvSpPr>
          <p:cNvPr id="3" name="Shape 1"/>
          <p:cNvSpPr/>
          <p:nvPr/>
        </p:nvSpPr>
        <p:spPr>
          <a:xfrm>
            <a:off x="8869680" y="868680"/>
            <a:ext cx="411480" cy="0"/>
          </a:xfrm>
          <a:prstGeom prst="line">
            <a:avLst/>
          </a:prstGeom>
          <a:noFill/>
          <a:ln w="19050">
            <a:solidFill>
              <a:srgbClr val="1D5A3C"/>
            </a:solidFill>
            <a:prstDash val="sysDot"/>
          </a:ln>
        </p:spPr>
      </p:sp>
      <p:sp>
        <p:nvSpPr>
          <p:cNvPr id="4" name="Shape 2"/>
          <p:cNvSpPr/>
          <p:nvPr/>
        </p:nvSpPr>
        <p:spPr>
          <a:xfrm>
            <a:off x="9281160" y="822960"/>
            <a:ext cx="91440" cy="91440"/>
          </a:xfrm>
          <a:prstGeom prst="ellipse">
            <a:avLst/>
          </a:prstGeom>
          <a:solidFill>
            <a:srgbClr val="1D5A3C"/>
          </a:solidFill>
          <a:ln/>
        </p:spPr>
      </p:sp>
      <p:sp>
        <p:nvSpPr>
          <p:cNvPr id="5" name="Shape 3"/>
          <p:cNvSpPr/>
          <p:nvPr/>
        </p:nvSpPr>
        <p:spPr>
          <a:xfrm>
            <a:off x="9372600" y="868680"/>
            <a:ext cx="411480" cy="0"/>
          </a:xfrm>
          <a:prstGeom prst="line">
            <a:avLst/>
          </a:prstGeom>
          <a:noFill/>
          <a:ln w="19050">
            <a:solidFill>
              <a:srgbClr val="1D5A3C"/>
            </a:solidFill>
            <a:prstDash val="sysDot"/>
          </a:ln>
        </p:spPr>
      </p:sp>
      <p:sp>
        <p:nvSpPr>
          <p:cNvPr id="6" name="Shape 4"/>
          <p:cNvSpPr/>
          <p:nvPr/>
        </p:nvSpPr>
        <p:spPr>
          <a:xfrm>
            <a:off x="9784080" y="822960"/>
            <a:ext cx="91440" cy="91440"/>
          </a:xfrm>
          <a:prstGeom prst="ellipse">
            <a:avLst/>
          </a:prstGeom>
          <a:solidFill>
            <a:srgbClr val="1D5A3C"/>
          </a:solidFill>
          <a:ln/>
        </p:spPr>
      </p:sp>
      <p:sp>
        <p:nvSpPr>
          <p:cNvPr id="7" name="Shape 5"/>
          <p:cNvSpPr/>
          <p:nvPr/>
        </p:nvSpPr>
        <p:spPr>
          <a:xfrm>
            <a:off x="9875520" y="868680"/>
            <a:ext cx="411480" cy="0"/>
          </a:xfrm>
          <a:prstGeom prst="line">
            <a:avLst/>
          </a:prstGeom>
          <a:noFill/>
          <a:ln w="19050">
            <a:solidFill>
              <a:srgbClr val="1D5A3C"/>
            </a:solidFill>
            <a:prstDash val="sysDot"/>
          </a:ln>
        </p:spPr>
      </p:sp>
      <p:sp>
        <p:nvSpPr>
          <p:cNvPr id="8" name="Shape 6"/>
          <p:cNvSpPr/>
          <p:nvPr/>
        </p:nvSpPr>
        <p:spPr>
          <a:xfrm>
            <a:off x="10287000" y="822960"/>
            <a:ext cx="91440" cy="91440"/>
          </a:xfrm>
          <a:prstGeom prst="ellipse">
            <a:avLst/>
          </a:prstGeom>
          <a:solidFill>
            <a:srgbClr val="1D5A3C"/>
          </a:solidFill>
          <a:ln/>
        </p:spPr>
      </p:sp>
      <p:sp>
        <p:nvSpPr>
          <p:cNvPr id="9" name="Shape 7"/>
          <p:cNvSpPr/>
          <p:nvPr/>
        </p:nvSpPr>
        <p:spPr>
          <a:xfrm>
            <a:off x="10378440" y="868680"/>
            <a:ext cx="411480" cy="0"/>
          </a:xfrm>
          <a:prstGeom prst="line">
            <a:avLst/>
          </a:prstGeom>
          <a:noFill/>
          <a:ln w="19050">
            <a:solidFill>
              <a:srgbClr val="1D5A3C"/>
            </a:solidFill>
            <a:prstDash val="sysDot"/>
          </a:ln>
        </p:spPr>
      </p:sp>
      <p:sp>
        <p:nvSpPr>
          <p:cNvPr id="10" name="Shape 8"/>
          <p:cNvSpPr/>
          <p:nvPr/>
        </p:nvSpPr>
        <p:spPr>
          <a:xfrm>
            <a:off x="10789920" y="822960"/>
            <a:ext cx="91440" cy="91440"/>
          </a:xfrm>
          <a:prstGeom prst="ellipse">
            <a:avLst/>
          </a:prstGeom>
          <a:solidFill>
            <a:srgbClr val="E08C3E"/>
          </a:solidFill>
          <a:ln/>
        </p:spPr>
      </p:sp>
      <p:sp>
        <p:nvSpPr>
          <p:cNvPr id="11" name="Text 9"/>
          <p:cNvSpPr/>
          <p:nvPr/>
        </p:nvSpPr>
        <p:spPr>
          <a:xfrm>
            <a:off x="640080" y="2331720"/>
            <a:ext cx="105156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DAKTARI MTAANI</a:t>
            </a:r>
            <a:endParaRPr lang="en-US" sz="5400" dirty="0"/>
          </a:p>
        </p:txBody>
      </p:sp>
      <p:sp>
        <p:nvSpPr>
          <p:cNvPr id="12" name="Text 10"/>
          <p:cNvSpPr/>
          <p:nvPr/>
        </p:nvSpPr>
        <p:spPr>
          <a:xfrm>
            <a:off x="658368" y="3246120"/>
            <a:ext cx="7315200" cy="548640"/>
          </a:xfrm>
          <a:prstGeom prst="rect">
            <a:avLst/>
          </a:prstGeom>
          <a:noFill/>
          <a:ln/>
        </p:spPr>
        <p:txBody>
          <a:bodyPr wrap="square" rtlCol="0" anchor="ctr"/>
          <a:lstStyle/>
          <a:p>
            <a:pPr indent="0" marL="0">
              <a:buNone/>
            </a:pPr>
            <a:r>
              <a:rPr lang="en-US" sz="2000" i="1" dirty="0">
                <a:solidFill>
                  <a:srgbClr val="E08C3E"/>
                </a:solidFill>
                <a:latin typeface="Cambria" pitchFamily="34" charset="0"/>
                <a:ea typeface="Cambria" pitchFamily="34" charset="-122"/>
                <a:cs typeface="Cambria" pitchFamily="34" charset="-120"/>
              </a:rPr>
              <a:t>A Doctor, On Demand</a:t>
            </a:r>
            <a:endParaRPr lang="en-US" sz="2000" dirty="0"/>
          </a:p>
        </p:txBody>
      </p:sp>
      <p:sp>
        <p:nvSpPr>
          <p:cNvPr id="13" name="Shape 11"/>
          <p:cNvSpPr/>
          <p:nvPr/>
        </p:nvSpPr>
        <p:spPr>
          <a:xfrm>
            <a:off x="658368" y="3977640"/>
            <a:ext cx="2194560" cy="0"/>
          </a:xfrm>
          <a:prstGeom prst="line">
            <a:avLst/>
          </a:prstGeom>
          <a:noFill/>
          <a:ln w="19050">
            <a:solidFill>
              <a:srgbClr val="3D7A5C"/>
            </a:solidFill>
            <a:prstDash val="solid"/>
          </a:ln>
        </p:spPr>
      </p:sp>
      <p:sp>
        <p:nvSpPr>
          <p:cNvPr id="14" name="Text 12"/>
          <p:cNvSpPr/>
          <p:nvPr/>
        </p:nvSpPr>
        <p:spPr>
          <a:xfrm>
            <a:off x="658368" y="4160520"/>
            <a:ext cx="8229600" cy="457200"/>
          </a:xfrm>
          <a:prstGeom prst="rect">
            <a:avLst/>
          </a:prstGeom>
          <a:noFill/>
          <a:ln/>
        </p:spPr>
        <p:txBody>
          <a:bodyPr wrap="square" rtlCol="0" anchor="ctr"/>
          <a:lstStyle/>
          <a:p>
            <a:pPr indent="0" marL="0">
              <a:buNone/>
            </a:pPr>
            <a:r>
              <a:rPr lang="en-US" sz="1500" dirty="0">
                <a:solidFill>
                  <a:srgbClr val="D9E9DF"/>
                </a:solidFill>
                <a:latin typeface="Calibri" pitchFamily="34" charset="0"/>
                <a:ea typeface="Calibri" pitchFamily="34" charset="-122"/>
                <a:cs typeface="Calibri" pitchFamily="34" charset="-120"/>
              </a:rPr>
              <a:t>Project Work Plan — Web MVP → Pilot → Funding → Mobile Apps</a:t>
            </a:r>
            <a:endParaRPr lang="en-US" sz="1500" dirty="0"/>
          </a:p>
        </p:txBody>
      </p:sp>
      <p:sp>
        <p:nvSpPr>
          <p:cNvPr id="15" name="Text 13"/>
          <p:cNvSpPr/>
          <p:nvPr/>
        </p:nvSpPr>
        <p:spPr>
          <a:xfrm>
            <a:off x="658368" y="6126480"/>
            <a:ext cx="7315200" cy="320040"/>
          </a:xfrm>
          <a:prstGeom prst="rect">
            <a:avLst/>
          </a:prstGeom>
          <a:noFill/>
          <a:ln/>
        </p:spPr>
        <p:txBody>
          <a:bodyPr wrap="square" rtlCol="0" anchor="ctr"/>
          <a:lstStyle/>
          <a:p>
            <a:pPr indent="0" marL="0">
              <a:buNone/>
            </a:pPr>
            <a:r>
              <a:rPr lang="en-US" sz="1100" dirty="0">
                <a:solidFill>
                  <a:srgbClr val="9DB5A8"/>
                </a:solidFill>
                <a:latin typeface="Calibri" pitchFamily="34" charset="0"/>
                <a:ea typeface="Calibri" pitchFamily="34" charset="-122"/>
                <a:cs typeface="Calibri" pitchFamily="34" charset="-120"/>
              </a:rPr>
              <a:t>Prepared for the Client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A doctor, requested like a ride</a:t>
            </a:r>
            <a:endParaRPr lang="en-US" sz="3000" dirty="0"/>
          </a:p>
        </p:txBody>
      </p:sp>
      <p:sp>
        <p:nvSpPr>
          <p:cNvPr id="4" name="Text 2"/>
          <p:cNvSpPr/>
          <p:nvPr/>
        </p:nvSpPr>
        <p:spPr>
          <a:xfrm>
            <a:off x="548640" y="1417320"/>
            <a:ext cx="6766560" cy="1920240"/>
          </a:xfrm>
          <a:prstGeom prst="rect">
            <a:avLst/>
          </a:prstGeom>
          <a:noFill/>
          <a:ln/>
        </p:spPr>
        <p:txBody>
          <a:bodyPr wrap="square" rtlCol="0" anchor="ctr"/>
          <a:lstStyle/>
          <a:p>
            <a:pPr indent="0" marL="0">
              <a:lnSpc>
                <a:spcPct val="125000"/>
              </a:lnSpc>
              <a:buNone/>
            </a:pPr>
            <a:r>
              <a:rPr lang="en-US" sz="1350" dirty="0">
                <a:solidFill>
                  <a:srgbClr val="1F2A24"/>
                </a:solidFill>
                <a:latin typeface="Calibri" pitchFamily="34" charset="0"/>
                <a:ea typeface="Calibri" pitchFamily="34" charset="-122"/>
                <a:cs typeface="Calibri" pitchFamily="34" charset="-120"/>
              </a:rPr>
              <a:t>Daktari Mtaani lets anyone request a doctor the way they request a cab: open the app, describe what's wrong, and either speak to a doctor immediately by video or have one dispatched to their location. We start lean, prove the model with real patients and doctors, then use that traction to raise the funding needed to build native apps and scale nationally.</a:t>
            </a:r>
            <a:endParaRPr lang="en-US" sz="1350" dirty="0"/>
          </a:p>
        </p:txBody>
      </p:sp>
      <p:sp>
        <p:nvSpPr>
          <p:cNvPr id="5" name="Shape 3"/>
          <p:cNvSpPr/>
          <p:nvPr/>
        </p:nvSpPr>
        <p:spPr>
          <a:xfrm>
            <a:off x="7635240" y="1417320"/>
            <a:ext cx="3291840" cy="1188720"/>
          </a:xfrm>
          <a:prstGeom prst="roundRect">
            <a:avLst>
              <a:gd name="adj" fmla="val 6154"/>
            </a:avLst>
          </a:prstGeom>
          <a:solidFill>
            <a:srgbClr val="FFFFFF"/>
          </a:solidFill>
          <a:ln w="12700">
            <a:solidFill>
              <a:srgbClr val="D6DDD3"/>
            </a:solidFill>
            <a:prstDash val="solid"/>
          </a:ln>
          <a:effectLst>
            <a:outerShdw sx="100000" sy="100000" kx="0" ky="0" algn="bl" rotWithShape="0" blurRad="76200" dist="25400" dir="5400000">
              <a:srgbClr val="000000">
                <a:alpha val="12000"/>
              </a:srgbClr>
            </a:outerShdw>
          </a:effectLst>
        </p:spPr>
      </p:sp>
      <p:pic>
        <p:nvPicPr>
          <p:cNvPr id="6" name="Image 0" descr="/home/claude/deck/icons/video_a.png">    </p:cNvPr>
          <p:cNvPicPr>
            <a:picLocks noChangeAspect="1"/>
          </p:cNvPicPr>
          <p:nvPr/>
        </p:nvPicPr>
        <p:blipFill>
          <a:blip r:embed="rId1"/>
          <a:stretch>
            <a:fillRect/>
          </a:stretch>
        </p:blipFill>
        <p:spPr>
          <a:xfrm>
            <a:off x="7863840" y="1673352"/>
            <a:ext cx="502920" cy="502920"/>
          </a:xfrm>
          <a:prstGeom prst="rect">
            <a:avLst/>
          </a:prstGeom>
        </p:spPr>
      </p:pic>
      <p:sp>
        <p:nvSpPr>
          <p:cNvPr id="7" name="Text 4"/>
          <p:cNvSpPr/>
          <p:nvPr/>
        </p:nvSpPr>
        <p:spPr>
          <a:xfrm>
            <a:off x="8503920" y="1581912"/>
            <a:ext cx="2240280" cy="320040"/>
          </a:xfrm>
          <a:prstGeom prst="rect">
            <a:avLst/>
          </a:prstGeom>
          <a:noFill/>
          <a:ln/>
        </p:spPr>
        <p:txBody>
          <a:bodyPr wrap="square" rtlCol="0" anchor="ctr"/>
          <a:lstStyle/>
          <a:p>
            <a:pPr indent="0" marL="0">
              <a:buNone/>
            </a:pPr>
            <a:r>
              <a:rPr lang="en-US" sz="1450" b="1" dirty="0">
                <a:solidFill>
                  <a:srgbClr val="123D28"/>
                </a:solidFill>
                <a:latin typeface="Cambria" pitchFamily="34" charset="0"/>
                <a:ea typeface="Cambria" pitchFamily="34" charset="-122"/>
                <a:cs typeface="Cambria" pitchFamily="34" charset="-120"/>
              </a:rPr>
              <a:t>Teleconsultation</a:t>
            </a:r>
            <a:endParaRPr lang="en-US" sz="1450" dirty="0"/>
          </a:p>
        </p:txBody>
      </p:sp>
      <p:sp>
        <p:nvSpPr>
          <p:cNvPr id="8" name="Text 5"/>
          <p:cNvSpPr/>
          <p:nvPr/>
        </p:nvSpPr>
        <p:spPr>
          <a:xfrm>
            <a:off x="8503920" y="1920240"/>
            <a:ext cx="2240280" cy="594360"/>
          </a:xfrm>
          <a:prstGeom prst="rect">
            <a:avLst/>
          </a:prstGeom>
          <a:noFill/>
          <a:ln/>
        </p:spPr>
        <p:txBody>
          <a:bodyPr wrap="square" rtlCol="0" anchor="ctr"/>
          <a:lstStyle/>
          <a:p>
            <a:pPr indent="0" marL="0">
              <a:lnSpc>
                <a:spcPct val="115000"/>
              </a:lnSpc>
              <a:buNone/>
            </a:pPr>
            <a:r>
              <a:rPr lang="en-US" sz="1050" dirty="0">
                <a:solidFill>
                  <a:srgbClr val="5B6B62"/>
                </a:solidFill>
                <a:latin typeface="Calibri" pitchFamily="34" charset="0"/>
                <a:ea typeface="Calibri" pitchFamily="34" charset="-122"/>
                <a:cs typeface="Calibri" pitchFamily="34" charset="-120"/>
              </a:rPr>
              <a:t>Instant video/voice with a licensed doctor</a:t>
            </a:r>
            <a:endParaRPr lang="en-US" sz="1050" dirty="0"/>
          </a:p>
        </p:txBody>
      </p:sp>
      <p:sp>
        <p:nvSpPr>
          <p:cNvPr id="9" name="Shape 6"/>
          <p:cNvSpPr/>
          <p:nvPr/>
        </p:nvSpPr>
        <p:spPr>
          <a:xfrm>
            <a:off x="7635240" y="2788920"/>
            <a:ext cx="3291840" cy="1188720"/>
          </a:xfrm>
          <a:prstGeom prst="roundRect">
            <a:avLst>
              <a:gd name="adj" fmla="val 6154"/>
            </a:avLst>
          </a:prstGeom>
          <a:solidFill>
            <a:srgbClr val="FFFFFF"/>
          </a:solidFill>
          <a:ln w="12700">
            <a:solidFill>
              <a:srgbClr val="D6DDD3"/>
            </a:solidFill>
            <a:prstDash val="solid"/>
          </a:ln>
          <a:effectLst>
            <a:outerShdw sx="100000" sy="100000" kx="0" ky="0" algn="bl" rotWithShape="0" blurRad="76200" dist="25400" dir="5400000">
              <a:srgbClr val="000000">
                <a:alpha val="12000"/>
              </a:srgbClr>
            </a:outerShdw>
          </a:effectLst>
        </p:spPr>
      </p:sp>
      <p:pic>
        <p:nvPicPr>
          <p:cNvPr id="10" name="Image 1" descr="/home/claude/deck/icons/car.png">    </p:cNvPr>
          <p:cNvPicPr>
            <a:picLocks noChangeAspect="1"/>
          </p:cNvPicPr>
          <p:nvPr/>
        </p:nvPicPr>
        <p:blipFill>
          <a:blip r:embed="rId2"/>
          <a:stretch>
            <a:fillRect/>
          </a:stretch>
        </p:blipFill>
        <p:spPr>
          <a:xfrm>
            <a:off x="7863840" y="3044952"/>
            <a:ext cx="502920" cy="502920"/>
          </a:xfrm>
          <a:prstGeom prst="rect">
            <a:avLst/>
          </a:prstGeom>
        </p:spPr>
      </p:pic>
      <p:sp>
        <p:nvSpPr>
          <p:cNvPr id="11" name="Text 7"/>
          <p:cNvSpPr/>
          <p:nvPr/>
        </p:nvSpPr>
        <p:spPr>
          <a:xfrm>
            <a:off x="8503920" y="2953512"/>
            <a:ext cx="2240280" cy="320040"/>
          </a:xfrm>
          <a:prstGeom prst="rect">
            <a:avLst/>
          </a:prstGeom>
          <a:noFill/>
          <a:ln/>
        </p:spPr>
        <p:txBody>
          <a:bodyPr wrap="square" rtlCol="0" anchor="ctr"/>
          <a:lstStyle/>
          <a:p>
            <a:pPr indent="0" marL="0">
              <a:buNone/>
            </a:pPr>
            <a:r>
              <a:rPr lang="en-US" sz="1450" b="1" dirty="0">
                <a:solidFill>
                  <a:srgbClr val="123D28"/>
                </a:solidFill>
                <a:latin typeface="Cambria" pitchFamily="34" charset="0"/>
                <a:ea typeface="Cambria" pitchFamily="34" charset="-122"/>
                <a:cs typeface="Cambria" pitchFamily="34" charset="-120"/>
              </a:rPr>
              <a:t>Home Visit</a:t>
            </a:r>
            <a:endParaRPr lang="en-US" sz="1450" dirty="0"/>
          </a:p>
        </p:txBody>
      </p:sp>
      <p:sp>
        <p:nvSpPr>
          <p:cNvPr id="12" name="Text 8"/>
          <p:cNvSpPr/>
          <p:nvPr/>
        </p:nvSpPr>
        <p:spPr>
          <a:xfrm>
            <a:off x="8503920" y="3291840"/>
            <a:ext cx="2240280" cy="594360"/>
          </a:xfrm>
          <a:prstGeom prst="rect">
            <a:avLst/>
          </a:prstGeom>
          <a:noFill/>
          <a:ln/>
        </p:spPr>
        <p:txBody>
          <a:bodyPr wrap="square" rtlCol="0" anchor="ctr"/>
          <a:lstStyle/>
          <a:p>
            <a:pPr indent="0" marL="0">
              <a:lnSpc>
                <a:spcPct val="115000"/>
              </a:lnSpc>
              <a:buNone/>
            </a:pPr>
            <a:r>
              <a:rPr lang="en-US" sz="1050" dirty="0">
                <a:solidFill>
                  <a:srgbClr val="5B6B62"/>
                </a:solidFill>
                <a:latin typeface="Calibri" pitchFamily="34" charset="0"/>
                <a:ea typeface="Calibri" pitchFamily="34" charset="-122"/>
                <a:cs typeface="Calibri" pitchFamily="34" charset="-120"/>
              </a:rPr>
              <a:t>A doctor dispatched to the patient's location</a:t>
            </a:r>
            <a:endParaRPr lang="en-US" sz="1050" dirty="0"/>
          </a:p>
        </p:txBody>
      </p:sp>
      <p:sp>
        <p:nvSpPr>
          <p:cNvPr id="13" name="Shape 9"/>
          <p:cNvSpPr/>
          <p:nvPr/>
        </p:nvSpPr>
        <p:spPr>
          <a:xfrm>
            <a:off x="548640" y="4343400"/>
            <a:ext cx="3383280" cy="1737360"/>
          </a:xfrm>
          <a:prstGeom prst="roundRect">
            <a:avLst>
              <a:gd name="adj" fmla="val 4211"/>
            </a:avLst>
          </a:prstGeom>
          <a:solidFill>
            <a:srgbClr val="E4EEE6"/>
          </a:solidFill>
          <a:ln/>
        </p:spPr>
      </p:sp>
      <p:pic>
        <p:nvPicPr>
          <p:cNvPr id="14" name="Image 2" descr="/home/claude/deck/icons/mapmarker.png">    </p:cNvPr>
          <p:cNvPicPr>
            <a:picLocks noChangeAspect="1"/>
          </p:cNvPicPr>
          <p:nvPr/>
        </p:nvPicPr>
        <p:blipFill>
          <a:blip r:embed="rId3"/>
          <a:stretch>
            <a:fillRect/>
          </a:stretch>
        </p:blipFill>
        <p:spPr>
          <a:xfrm>
            <a:off x="822960" y="4599432"/>
            <a:ext cx="457200" cy="457200"/>
          </a:xfrm>
          <a:prstGeom prst="rect">
            <a:avLst/>
          </a:prstGeom>
        </p:spPr>
      </p:pic>
      <p:sp>
        <p:nvSpPr>
          <p:cNvPr id="15" name="Text 10"/>
          <p:cNvSpPr/>
          <p:nvPr/>
        </p:nvSpPr>
        <p:spPr>
          <a:xfrm>
            <a:off x="822960" y="5120640"/>
            <a:ext cx="2834640" cy="457200"/>
          </a:xfrm>
          <a:prstGeom prst="rect">
            <a:avLst/>
          </a:prstGeom>
          <a:noFill/>
          <a:ln/>
        </p:spPr>
        <p:txBody>
          <a:bodyPr wrap="square" rtlCol="0" anchor="ctr"/>
          <a:lstStyle/>
          <a:p>
            <a:pPr indent="0" marL="0">
              <a:buNone/>
            </a:pPr>
            <a:r>
              <a:rPr lang="en-US" sz="2200" b="1" dirty="0">
                <a:solidFill>
                  <a:srgbClr val="123D28"/>
                </a:solidFill>
                <a:latin typeface="Cambria" pitchFamily="34" charset="0"/>
                <a:ea typeface="Cambria" pitchFamily="34" charset="-122"/>
                <a:cs typeface="Cambria" pitchFamily="34" charset="-120"/>
              </a:rPr>
              <a:t>1 : 6,355</a:t>
            </a:r>
            <a:endParaRPr lang="en-US" sz="2200" dirty="0"/>
          </a:p>
        </p:txBody>
      </p:sp>
      <p:sp>
        <p:nvSpPr>
          <p:cNvPr id="16" name="Text 11"/>
          <p:cNvSpPr/>
          <p:nvPr/>
        </p:nvSpPr>
        <p:spPr>
          <a:xfrm>
            <a:off x="822960" y="5577840"/>
            <a:ext cx="2834640" cy="457200"/>
          </a:xfrm>
          <a:prstGeom prst="rect">
            <a:avLst/>
          </a:prstGeom>
          <a:noFill/>
          <a:ln/>
        </p:spPr>
        <p:txBody>
          <a:bodyPr wrap="square" rtlCol="0" anchor="ctr"/>
          <a:lstStyle/>
          <a:p>
            <a:pPr indent="0" marL="0">
              <a:lnSpc>
                <a:spcPct val="110000"/>
              </a:lnSpc>
              <a:buNone/>
            </a:pPr>
            <a:r>
              <a:rPr lang="en-US" sz="1000" dirty="0">
                <a:solidFill>
                  <a:srgbClr val="5B6B62"/>
                </a:solidFill>
                <a:latin typeface="Calibri" pitchFamily="34" charset="0"/>
                <a:ea typeface="Calibri" pitchFamily="34" charset="-122"/>
                <a:cs typeface="Calibri" pitchFamily="34" charset="-120"/>
              </a:rPr>
              <a:t>Kenya's doctor-to-patient ratio today</a:t>
            </a:r>
            <a:endParaRPr lang="en-US" sz="1000" dirty="0"/>
          </a:p>
        </p:txBody>
      </p:sp>
      <p:sp>
        <p:nvSpPr>
          <p:cNvPr id="17" name="Shape 12"/>
          <p:cNvSpPr/>
          <p:nvPr/>
        </p:nvSpPr>
        <p:spPr>
          <a:xfrm>
            <a:off x="4160520" y="4343400"/>
            <a:ext cx="3383280" cy="1737360"/>
          </a:xfrm>
          <a:prstGeom prst="roundRect">
            <a:avLst>
              <a:gd name="adj" fmla="val 4211"/>
            </a:avLst>
          </a:prstGeom>
          <a:solidFill>
            <a:srgbClr val="E4EEE6"/>
          </a:solidFill>
          <a:ln/>
        </p:spPr>
      </p:sp>
      <p:pic>
        <p:nvPicPr>
          <p:cNvPr id="18" name="Image 3" descr="/home/claude/deck/icons/clock.png">    </p:cNvPr>
          <p:cNvPicPr>
            <a:picLocks noChangeAspect="1"/>
          </p:cNvPicPr>
          <p:nvPr/>
        </p:nvPicPr>
        <p:blipFill>
          <a:blip r:embed="rId4"/>
          <a:stretch>
            <a:fillRect/>
          </a:stretch>
        </p:blipFill>
        <p:spPr>
          <a:xfrm>
            <a:off x="4434840" y="4599432"/>
            <a:ext cx="457200" cy="457200"/>
          </a:xfrm>
          <a:prstGeom prst="rect">
            <a:avLst/>
          </a:prstGeom>
        </p:spPr>
      </p:pic>
      <p:sp>
        <p:nvSpPr>
          <p:cNvPr id="19" name="Text 13"/>
          <p:cNvSpPr/>
          <p:nvPr/>
        </p:nvSpPr>
        <p:spPr>
          <a:xfrm>
            <a:off x="4434840" y="5120640"/>
            <a:ext cx="2834640" cy="457200"/>
          </a:xfrm>
          <a:prstGeom prst="rect">
            <a:avLst/>
          </a:prstGeom>
          <a:noFill/>
          <a:ln/>
        </p:spPr>
        <p:txBody>
          <a:bodyPr wrap="square" rtlCol="0" anchor="ctr"/>
          <a:lstStyle/>
          <a:p>
            <a:pPr indent="0" marL="0">
              <a:buNone/>
            </a:pPr>
            <a:r>
              <a:rPr lang="en-US" sz="2200" b="1" dirty="0">
                <a:solidFill>
                  <a:srgbClr val="123D28"/>
                </a:solidFill>
                <a:latin typeface="Cambria" pitchFamily="34" charset="0"/>
                <a:ea typeface="Cambria" pitchFamily="34" charset="-122"/>
                <a:cs typeface="Cambria" pitchFamily="34" charset="-120"/>
              </a:rPr>
              <a:t>&lt; 5 min</a:t>
            </a:r>
            <a:endParaRPr lang="en-US" sz="2200" dirty="0"/>
          </a:p>
        </p:txBody>
      </p:sp>
      <p:sp>
        <p:nvSpPr>
          <p:cNvPr id="20" name="Text 14"/>
          <p:cNvSpPr/>
          <p:nvPr/>
        </p:nvSpPr>
        <p:spPr>
          <a:xfrm>
            <a:off x="4434840" y="5577840"/>
            <a:ext cx="2834640" cy="457200"/>
          </a:xfrm>
          <a:prstGeom prst="rect">
            <a:avLst/>
          </a:prstGeom>
          <a:noFill/>
          <a:ln/>
        </p:spPr>
        <p:txBody>
          <a:bodyPr wrap="square" rtlCol="0" anchor="ctr"/>
          <a:lstStyle/>
          <a:p>
            <a:pPr indent="0" marL="0">
              <a:lnSpc>
                <a:spcPct val="110000"/>
              </a:lnSpc>
              <a:buNone/>
            </a:pPr>
            <a:r>
              <a:rPr lang="en-US" sz="1000" dirty="0">
                <a:solidFill>
                  <a:srgbClr val="5B6B62"/>
                </a:solidFill>
                <a:latin typeface="Calibri" pitchFamily="34" charset="0"/>
                <a:ea typeface="Calibri" pitchFamily="34" charset="-122"/>
                <a:cs typeface="Calibri" pitchFamily="34" charset="-120"/>
              </a:rPr>
              <a:t>Target time to connect by teleconsult</a:t>
            </a:r>
            <a:endParaRPr lang="en-US" sz="1000" dirty="0"/>
          </a:p>
        </p:txBody>
      </p:sp>
      <p:sp>
        <p:nvSpPr>
          <p:cNvPr id="21" name="Shape 15"/>
          <p:cNvSpPr/>
          <p:nvPr/>
        </p:nvSpPr>
        <p:spPr>
          <a:xfrm>
            <a:off x="7772400" y="4343400"/>
            <a:ext cx="3383280" cy="1737360"/>
          </a:xfrm>
          <a:prstGeom prst="roundRect">
            <a:avLst>
              <a:gd name="adj" fmla="val 4211"/>
            </a:avLst>
          </a:prstGeom>
          <a:solidFill>
            <a:srgbClr val="123D28"/>
          </a:solidFill>
          <a:ln/>
        </p:spPr>
      </p:sp>
      <p:pic>
        <p:nvPicPr>
          <p:cNvPr id="22" name="Image 4" descr="/home/claude/deck/icons/mapmarker_w.png">    </p:cNvPr>
          <p:cNvPicPr>
            <a:picLocks noChangeAspect="1"/>
          </p:cNvPicPr>
          <p:nvPr/>
        </p:nvPicPr>
        <p:blipFill>
          <a:blip r:embed="rId5"/>
          <a:stretch>
            <a:fillRect/>
          </a:stretch>
        </p:blipFill>
        <p:spPr>
          <a:xfrm>
            <a:off x="8046720" y="4599432"/>
            <a:ext cx="457200" cy="457200"/>
          </a:xfrm>
          <a:prstGeom prst="rect">
            <a:avLst/>
          </a:prstGeom>
        </p:spPr>
      </p:pic>
      <p:sp>
        <p:nvSpPr>
          <p:cNvPr id="23" name="Text 16"/>
          <p:cNvSpPr/>
          <p:nvPr/>
        </p:nvSpPr>
        <p:spPr>
          <a:xfrm>
            <a:off x="8046720" y="5120640"/>
            <a:ext cx="283464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&lt; 45 min</a:t>
            </a:r>
            <a:endParaRPr lang="en-US" sz="2200" dirty="0"/>
          </a:p>
        </p:txBody>
      </p:sp>
      <p:sp>
        <p:nvSpPr>
          <p:cNvPr id="24" name="Text 17"/>
          <p:cNvSpPr/>
          <p:nvPr/>
        </p:nvSpPr>
        <p:spPr>
          <a:xfrm>
            <a:off x="8046720" y="5577840"/>
            <a:ext cx="2834640" cy="457200"/>
          </a:xfrm>
          <a:prstGeom prst="rect">
            <a:avLst/>
          </a:prstGeom>
          <a:noFill/>
          <a:ln/>
        </p:spPr>
        <p:txBody>
          <a:bodyPr wrap="square" rtlCol="0" anchor="ctr"/>
          <a:lstStyle/>
          <a:p>
            <a:pPr indent="0" marL="0">
              <a:lnSpc>
                <a:spcPct val="110000"/>
              </a:lnSpc>
              <a:buNone/>
            </a:pPr>
            <a:r>
              <a:rPr lang="en-US" sz="1000" dirty="0">
                <a:solidFill>
                  <a:srgbClr val="D9E9DF"/>
                </a:solidFill>
                <a:latin typeface="Calibri" pitchFamily="34" charset="0"/>
                <a:ea typeface="Calibri" pitchFamily="34" charset="-122"/>
                <a:cs typeface="Calibri" pitchFamily="34" charset="-120"/>
              </a:rPr>
              <a:t>Target doctor arrival for a home visit</a:t>
            </a:r>
            <a:endParaRPr lang="en-US" sz="1000" dirty="0"/>
          </a:p>
        </p:txBody>
      </p:sp>
      <p:sp>
        <p:nvSpPr>
          <p:cNvPr id="25" name="Text 18"/>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26" name="Text 19"/>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Executive Summary</a:t>
            </a:r>
            <a:endParaRPr lang="en-US" sz="900" dirty="0"/>
          </a:p>
        </p:txBody>
      </p:sp>
      <p:sp>
        <p:nvSpPr>
          <p:cNvPr id="27" name="Text 20"/>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STRATEGY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Why we start with a web app, not an app store</a:t>
            </a:r>
            <a:endParaRPr lang="en-US" sz="3000" dirty="0"/>
          </a:p>
        </p:txBody>
      </p:sp>
      <p:sp>
        <p:nvSpPr>
          <p:cNvPr id="4" name="Text 2"/>
          <p:cNvSpPr/>
          <p:nvPr/>
        </p:nvSpPr>
        <p:spPr>
          <a:xfrm>
            <a:off x="548640" y="1371600"/>
            <a:ext cx="10607040" cy="502920"/>
          </a:xfrm>
          <a:prstGeom prst="rect">
            <a:avLst/>
          </a:prstGeom>
          <a:noFill/>
          <a:ln/>
        </p:spPr>
        <p:txBody>
          <a:bodyPr wrap="square" rtlCol="0" anchor="ctr"/>
          <a:lstStyle/>
          <a:p>
            <a:pPr indent="0" marL="0">
              <a:buNone/>
            </a:pPr>
            <a:r>
              <a:rPr lang="en-US" sz="1300" i="1" dirty="0">
                <a:solidFill>
                  <a:srgbClr val="5B6B62"/>
                </a:solidFill>
                <a:latin typeface="Calibri" pitchFamily="34" charset="0"/>
                <a:ea typeface="Calibri" pitchFamily="34" charset="-122"/>
                <a:cs typeface="Calibri" pitchFamily="34" charset="-120"/>
              </a:rPr>
              <a:t>A native app is the destination, not the starting point. Building the web app first means the business case gets tested before the expensive build does.</a:t>
            </a:r>
            <a:endParaRPr lang="en-US" sz="1300" dirty="0"/>
          </a:p>
        </p:txBody>
      </p:sp>
      <p:sp>
        <p:nvSpPr>
          <p:cNvPr id="5" name="Shape 3"/>
          <p:cNvSpPr/>
          <p:nvPr/>
        </p:nvSpPr>
        <p:spPr>
          <a:xfrm>
            <a:off x="548640" y="2103120"/>
            <a:ext cx="5143500" cy="1920240"/>
          </a:xfrm>
          <a:prstGeom prst="roundRect">
            <a:avLst>
              <a:gd name="adj" fmla="val 3810"/>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822960" y="2377440"/>
            <a:ext cx="640080" cy="640080"/>
          </a:xfrm>
          <a:prstGeom prst="ellipse">
            <a:avLst/>
          </a:prstGeom>
          <a:solidFill>
            <a:srgbClr val="E4EEE6"/>
          </a:solidFill>
          <a:ln/>
        </p:spPr>
      </p:sp>
      <p:pic>
        <p:nvPicPr>
          <p:cNvPr id="7" name="Image 0" descr="/home/claude/deck/icons/rocket.png">    </p:cNvPr>
          <p:cNvPicPr>
            <a:picLocks noChangeAspect="1"/>
          </p:cNvPicPr>
          <p:nvPr/>
        </p:nvPicPr>
        <p:blipFill>
          <a:blip r:embed="rId1"/>
          <a:stretch>
            <a:fillRect/>
          </a:stretch>
        </p:blipFill>
        <p:spPr>
          <a:xfrm>
            <a:off x="969264" y="2523744"/>
            <a:ext cx="347472" cy="347472"/>
          </a:xfrm>
          <a:prstGeom prst="rect">
            <a:avLst/>
          </a:prstGeom>
        </p:spPr>
      </p:pic>
      <p:sp>
        <p:nvSpPr>
          <p:cNvPr id="8" name="Text 5"/>
          <p:cNvSpPr/>
          <p:nvPr/>
        </p:nvSpPr>
        <p:spPr>
          <a:xfrm>
            <a:off x="1645920" y="2359152"/>
            <a:ext cx="3771900" cy="365760"/>
          </a:xfrm>
          <a:prstGeom prst="rect">
            <a:avLst/>
          </a:prstGeom>
          <a:noFill/>
          <a:ln/>
        </p:spPr>
        <p:txBody>
          <a:bodyPr wrap="square" rtlCol="0" anchor="ctr"/>
          <a:lstStyle/>
          <a:p>
            <a:pPr indent="0" marL="0">
              <a:buNone/>
            </a:pPr>
            <a:r>
              <a:rPr lang="en-US" sz="1500" b="1" dirty="0">
                <a:solidFill>
                  <a:srgbClr val="123D28"/>
                </a:solidFill>
                <a:latin typeface="Cambria" pitchFamily="34" charset="0"/>
                <a:ea typeface="Cambria" pitchFamily="34" charset="-122"/>
                <a:cs typeface="Cambria" pitchFamily="34" charset="-120"/>
              </a:rPr>
              <a:t>Launch faster</a:t>
            </a:r>
            <a:endParaRPr lang="en-US" sz="1500" dirty="0"/>
          </a:p>
        </p:txBody>
      </p:sp>
      <p:sp>
        <p:nvSpPr>
          <p:cNvPr id="9" name="Text 6"/>
          <p:cNvSpPr/>
          <p:nvPr/>
        </p:nvSpPr>
        <p:spPr>
          <a:xfrm>
            <a:off x="1645920" y="2724912"/>
            <a:ext cx="3771900" cy="1097280"/>
          </a:xfrm>
          <a:prstGeom prst="rect">
            <a:avLst/>
          </a:prstGeom>
          <a:noFill/>
          <a:ln/>
        </p:spPr>
        <p:txBody>
          <a:bodyPr wrap="square" rtlCol="0" anchor="ctr"/>
          <a:lstStyle/>
          <a:p>
            <a:pPr indent="0" marL="0">
              <a:lnSpc>
                <a:spcPct val="120000"/>
              </a:lnSpc>
              <a:buNone/>
            </a:pPr>
            <a:r>
              <a:rPr lang="en-US" sz="1100" dirty="0">
                <a:solidFill>
                  <a:srgbClr val="1F2A24"/>
                </a:solidFill>
                <a:latin typeface="Calibri" pitchFamily="34" charset="0"/>
                <a:ea typeface="Calibri" pitchFamily="34" charset="-122"/>
                <a:cs typeface="Calibri" pitchFamily="34" charset="-120"/>
              </a:rPr>
              <a:t>Real patients and doctors within weeks, not months of app-store review cycles.</a:t>
            </a:r>
            <a:endParaRPr lang="en-US" sz="1100" dirty="0"/>
          </a:p>
        </p:txBody>
      </p:sp>
      <p:sp>
        <p:nvSpPr>
          <p:cNvPr id="10" name="Shape 7"/>
          <p:cNvSpPr/>
          <p:nvPr/>
        </p:nvSpPr>
        <p:spPr>
          <a:xfrm>
            <a:off x="6012180" y="2103120"/>
            <a:ext cx="5143500" cy="1920240"/>
          </a:xfrm>
          <a:prstGeom prst="roundRect">
            <a:avLst>
              <a:gd name="adj" fmla="val 3810"/>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6286500" y="2377440"/>
            <a:ext cx="640080" cy="640080"/>
          </a:xfrm>
          <a:prstGeom prst="ellipse">
            <a:avLst/>
          </a:prstGeom>
          <a:solidFill>
            <a:srgbClr val="E4EEE6"/>
          </a:solidFill>
          <a:ln/>
        </p:spPr>
      </p:sp>
      <p:pic>
        <p:nvPicPr>
          <p:cNvPr id="12" name="Image 1" descr="/home/claude/deck/icons/chart.png">    </p:cNvPr>
          <p:cNvPicPr>
            <a:picLocks noChangeAspect="1"/>
          </p:cNvPicPr>
          <p:nvPr/>
        </p:nvPicPr>
        <p:blipFill>
          <a:blip r:embed="rId2"/>
          <a:stretch>
            <a:fillRect/>
          </a:stretch>
        </p:blipFill>
        <p:spPr>
          <a:xfrm>
            <a:off x="6432804" y="2523744"/>
            <a:ext cx="347472" cy="347472"/>
          </a:xfrm>
          <a:prstGeom prst="rect">
            <a:avLst/>
          </a:prstGeom>
        </p:spPr>
      </p:pic>
      <p:sp>
        <p:nvSpPr>
          <p:cNvPr id="13" name="Text 9"/>
          <p:cNvSpPr/>
          <p:nvPr/>
        </p:nvSpPr>
        <p:spPr>
          <a:xfrm>
            <a:off x="7109460" y="2359152"/>
            <a:ext cx="3771900" cy="365760"/>
          </a:xfrm>
          <a:prstGeom prst="rect">
            <a:avLst/>
          </a:prstGeom>
          <a:noFill/>
          <a:ln/>
        </p:spPr>
        <p:txBody>
          <a:bodyPr wrap="square" rtlCol="0" anchor="ctr"/>
          <a:lstStyle/>
          <a:p>
            <a:pPr indent="0" marL="0">
              <a:buNone/>
            </a:pPr>
            <a:r>
              <a:rPr lang="en-US" sz="1500" b="1" dirty="0">
                <a:solidFill>
                  <a:srgbClr val="123D28"/>
                </a:solidFill>
                <a:latin typeface="Cambria" pitchFamily="34" charset="0"/>
                <a:ea typeface="Cambria" pitchFamily="34" charset="-122"/>
                <a:cs typeface="Cambria" pitchFamily="34" charset="-120"/>
              </a:rPr>
              <a:t>Learn before locking in</a:t>
            </a:r>
            <a:endParaRPr lang="en-US" sz="1500" dirty="0"/>
          </a:p>
        </p:txBody>
      </p:sp>
      <p:sp>
        <p:nvSpPr>
          <p:cNvPr id="14" name="Text 10"/>
          <p:cNvSpPr/>
          <p:nvPr/>
        </p:nvSpPr>
        <p:spPr>
          <a:xfrm>
            <a:off x="7109460" y="2724912"/>
            <a:ext cx="3771900" cy="1097280"/>
          </a:xfrm>
          <a:prstGeom prst="rect">
            <a:avLst/>
          </a:prstGeom>
          <a:noFill/>
          <a:ln/>
        </p:spPr>
        <p:txBody>
          <a:bodyPr wrap="square" rtlCol="0" anchor="ctr"/>
          <a:lstStyle/>
          <a:p>
            <a:pPr indent="0" marL="0">
              <a:lnSpc>
                <a:spcPct val="120000"/>
              </a:lnSpc>
              <a:buNone/>
            </a:pPr>
            <a:r>
              <a:rPr lang="en-US" sz="1100" dirty="0">
                <a:solidFill>
                  <a:srgbClr val="1F2A24"/>
                </a:solidFill>
                <a:latin typeface="Calibri" pitchFamily="34" charset="0"/>
                <a:ea typeface="Calibri" pitchFamily="34" charset="-122"/>
                <a:cs typeface="Calibri" pitchFamily="34" charset="-120"/>
              </a:rPr>
              <a:t>Test dispatch, pricing, and doctor supply before committing to an expensive native build.</a:t>
            </a:r>
            <a:endParaRPr lang="en-US" sz="1100" dirty="0"/>
          </a:p>
        </p:txBody>
      </p:sp>
      <p:sp>
        <p:nvSpPr>
          <p:cNvPr id="15" name="Shape 11"/>
          <p:cNvSpPr/>
          <p:nvPr/>
        </p:nvSpPr>
        <p:spPr>
          <a:xfrm>
            <a:off x="548640" y="4297680"/>
            <a:ext cx="5143500" cy="1920240"/>
          </a:xfrm>
          <a:prstGeom prst="roundRect">
            <a:avLst>
              <a:gd name="adj" fmla="val 3810"/>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16" name="Shape 12"/>
          <p:cNvSpPr/>
          <p:nvPr/>
        </p:nvSpPr>
        <p:spPr>
          <a:xfrm>
            <a:off x="822960" y="4572000"/>
            <a:ext cx="640080" cy="640080"/>
          </a:xfrm>
          <a:prstGeom prst="ellipse">
            <a:avLst/>
          </a:prstGeom>
          <a:solidFill>
            <a:srgbClr val="E4EEE6"/>
          </a:solidFill>
          <a:ln/>
        </p:spPr>
      </p:sp>
      <p:pic>
        <p:nvPicPr>
          <p:cNvPr id="17" name="Image 2" descr="/home/claude/deck/icons/bullseye.png">    </p:cNvPr>
          <p:cNvPicPr>
            <a:picLocks noChangeAspect="1"/>
          </p:cNvPicPr>
          <p:nvPr/>
        </p:nvPicPr>
        <p:blipFill>
          <a:blip r:embed="rId3"/>
          <a:stretch>
            <a:fillRect/>
          </a:stretch>
        </p:blipFill>
        <p:spPr>
          <a:xfrm>
            <a:off x="969264" y="4718304"/>
            <a:ext cx="347472" cy="347472"/>
          </a:xfrm>
          <a:prstGeom prst="rect">
            <a:avLst/>
          </a:prstGeom>
        </p:spPr>
      </p:pic>
      <p:sp>
        <p:nvSpPr>
          <p:cNvPr id="18" name="Text 13"/>
          <p:cNvSpPr/>
          <p:nvPr/>
        </p:nvSpPr>
        <p:spPr>
          <a:xfrm>
            <a:off x="1645920" y="4553712"/>
            <a:ext cx="3771900" cy="365760"/>
          </a:xfrm>
          <a:prstGeom prst="rect">
            <a:avLst/>
          </a:prstGeom>
          <a:noFill/>
          <a:ln/>
        </p:spPr>
        <p:txBody>
          <a:bodyPr wrap="square" rtlCol="0" anchor="ctr"/>
          <a:lstStyle/>
          <a:p>
            <a:pPr indent="0" marL="0">
              <a:buNone/>
            </a:pPr>
            <a:r>
              <a:rPr lang="en-US" sz="1500" b="1" dirty="0">
                <a:solidFill>
                  <a:srgbClr val="123D28"/>
                </a:solidFill>
                <a:latin typeface="Cambria" pitchFamily="34" charset="0"/>
                <a:ea typeface="Cambria" pitchFamily="34" charset="-122"/>
                <a:cs typeface="Cambria" pitchFamily="34" charset="-120"/>
              </a:rPr>
              <a:t>Build the investor story</a:t>
            </a:r>
            <a:endParaRPr lang="en-US" sz="1500" dirty="0"/>
          </a:p>
        </p:txBody>
      </p:sp>
      <p:sp>
        <p:nvSpPr>
          <p:cNvPr id="19" name="Text 14"/>
          <p:cNvSpPr/>
          <p:nvPr/>
        </p:nvSpPr>
        <p:spPr>
          <a:xfrm>
            <a:off x="1645920" y="4919472"/>
            <a:ext cx="3771900" cy="1097280"/>
          </a:xfrm>
          <a:prstGeom prst="rect">
            <a:avLst/>
          </a:prstGeom>
          <a:noFill/>
          <a:ln/>
        </p:spPr>
        <p:txBody>
          <a:bodyPr wrap="square" rtlCol="0" anchor="ctr"/>
          <a:lstStyle/>
          <a:p>
            <a:pPr indent="0" marL="0">
              <a:lnSpc>
                <a:spcPct val="120000"/>
              </a:lnSpc>
              <a:buNone/>
            </a:pPr>
            <a:r>
              <a:rPr lang="en-US" sz="1100" dirty="0">
                <a:solidFill>
                  <a:srgbClr val="1F2A24"/>
                </a:solidFill>
                <a:latin typeface="Calibri" pitchFamily="34" charset="0"/>
                <a:ea typeface="Calibri" pitchFamily="34" charset="-122"/>
                <a:cs typeface="Calibri" pitchFamily="34" charset="-120"/>
              </a:rPr>
              <a:t>Real usage data beats a pitch deck — this is exactly what funders want to see.</a:t>
            </a:r>
            <a:endParaRPr lang="en-US" sz="1100" dirty="0"/>
          </a:p>
        </p:txBody>
      </p:sp>
      <p:sp>
        <p:nvSpPr>
          <p:cNvPr id="20" name="Shape 15"/>
          <p:cNvSpPr/>
          <p:nvPr/>
        </p:nvSpPr>
        <p:spPr>
          <a:xfrm>
            <a:off x="6012180" y="4297680"/>
            <a:ext cx="5143500" cy="1920240"/>
          </a:xfrm>
          <a:prstGeom prst="roundRect">
            <a:avLst>
              <a:gd name="adj" fmla="val 3810"/>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21" name="Shape 16"/>
          <p:cNvSpPr/>
          <p:nvPr/>
        </p:nvSpPr>
        <p:spPr>
          <a:xfrm>
            <a:off x="6286500" y="4572000"/>
            <a:ext cx="640080" cy="640080"/>
          </a:xfrm>
          <a:prstGeom prst="ellipse">
            <a:avLst/>
          </a:prstGeom>
          <a:solidFill>
            <a:srgbClr val="E4EEE6"/>
          </a:solidFill>
          <a:ln/>
        </p:spPr>
      </p:sp>
      <p:pic>
        <p:nvPicPr>
          <p:cNvPr id="22" name="Image 3" descr="/home/claude/deck/icons/moneybill.png">    </p:cNvPr>
          <p:cNvPicPr>
            <a:picLocks noChangeAspect="1"/>
          </p:cNvPicPr>
          <p:nvPr/>
        </p:nvPicPr>
        <p:blipFill>
          <a:blip r:embed="rId4"/>
          <a:stretch>
            <a:fillRect/>
          </a:stretch>
        </p:blipFill>
        <p:spPr>
          <a:xfrm>
            <a:off x="6432804" y="4718304"/>
            <a:ext cx="347472" cy="347472"/>
          </a:xfrm>
          <a:prstGeom prst="rect">
            <a:avLst/>
          </a:prstGeom>
        </p:spPr>
      </p:pic>
      <p:sp>
        <p:nvSpPr>
          <p:cNvPr id="23" name="Text 17"/>
          <p:cNvSpPr/>
          <p:nvPr/>
        </p:nvSpPr>
        <p:spPr>
          <a:xfrm>
            <a:off x="7109460" y="4553712"/>
            <a:ext cx="3771900" cy="365760"/>
          </a:xfrm>
          <a:prstGeom prst="rect">
            <a:avLst/>
          </a:prstGeom>
          <a:noFill/>
          <a:ln/>
        </p:spPr>
        <p:txBody>
          <a:bodyPr wrap="square" rtlCol="0" anchor="ctr"/>
          <a:lstStyle/>
          <a:p>
            <a:pPr indent="0" marL="0">
              <a:buNone/>
            </a:pPr>
            <a:r>
              <a:rPr lang="en-US" sz="1500" b="1" dirty="0">
                <a:solidFill>
                  <a:srgbClr val="123D28"/>
                </a:solidFill>
                <a:latin typeface="Cambria" pitchFamily="34" charset="0"/>
                <a:ea typeface="Cambria" pitchFamily="34" charset="-122"/>
                <a:cs typeface="Cambria" pitchFamily="34" charset="-120"/>
              </a:rPr>
              <a:t>Keep early costs low</a:t>
            </a:r>
            <a:endParaRPr lang="en-US" sz="1500" dirty="0"/>
          </a:p>
        </p:txBody>
      </p:sp>
      <p:sp>
        <p:nvSpPr>
          <p:cNvPr id="24" name="Text 18"/>
          <p:cNvSpPr/>
          <p:nvPr/>
        </p:nvSpPr>
        <p:spPr>
          <a:xfrm>
            <a:off x="7109460" y="4919472"/>
            <a:ext cx="3771900" cy="1097280"/>
          </a:xfrm>
          <a:prstGeom prst="rect">
            <a:avLst/>
          </a:prstGeom>
          <a:noFill/>
          <a:ln/>
        </p:spPr>
        <p:txBody>
          <a:bodyPr wrap="square" rtlCol="0" anchor="ctr"/>
          <a:lstStyle/>
          <a:p>
            <a:pPr indent="0" marL="0">
              <a:lnSpc>
                <a:spcPct val="120000"/>
              </a:lnSpc>
              <a:buNone/>
            </a:pPr>
            <a:r>
              <a:rPr lang="en-US" sz="1100" dirty="0">
                <a:solidFill>
                  <a:srgbClr val="1F2A24"/>
                </a:solidFill>
                <a:latin typeface="Calibri" pitchFamily="34" charset="0"/>
                <a:ea typeface="Calibri" pitchFamily="34" charset="-122"/>
                <a:cs typeface="Calibri" pitchFamily="34" charset="-120"/>
              </a:rPr>
              <a:t>Capital raised later goes toward scaling something proven, not discovering if it works.</a:t>
            </a:r>
            <a:endParaRPr lang="en-US" sz="1100" dirty="0"/>
          </a:p>
        </p:txBody>
      </p:sp>
      <p:sp>
        <p:nvSpPr>
          <p:cNvPr id="25" name="Text 19"/>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26" name="Text 20"/>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Why a Web App First</a:t>
            </a:r>
            <a:endParaRPr lang="en-US" sz="900" dirty="0"/>
          </a:p>
        </p:txBody>
      </p:sp>
      <p:sp>
        <p:nvSpPr>
          <p:cNvPr id="27" name="Text 21"/>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The route from pilot to national scale</a:t>
            </a:r>
            <a:endParaRPr lang="en-US" sz="3000" dirty="0"/>
          </a:p>
        </p:txBody>
      </p:sp>
      <p:sp>
        <p:nvSpPr>
          <p:cNvPr id="4" name="Shape 2"/>
          <p:cNvSpPr/>
          <p:nvPr/>
        </p:nvSpPr>
        <p:spPr>
          <a:xfrm>
            <a:off x="1234440" y="2331720"/>
            <a:ext cx="9738360" cy="0"/>
          </a:xfrm>
          <a:prstGeom prst="line">
            <a:avLst/>
          </a:prstGeom>
          <a:noFill/>
          <a:ln w="38100">
            <a:solidFill>
              <a:srgbClr val="D6DDD3"/>
            </a:solidFill>
            <a:prstDash val="solid"/>
          </a:ln>
        </p:spPr>
      </p:sp>
      <p:sp>
        <p:nvSpPr>
          <p:cNvPr id="5" name="Shape 3"/>
          <p:cNvSpPr/>
          <p:nvPr/>
        </p:nvSpPr>
        <p:spPr>
          <a:xfrm>
            <a:off x="1234440" y="2331720"/>
            <a:ext cx="1947672" cy="0"/>
          </a:xfrm>
          <a:prstGeom prst="line">
            <a:avLst/>
          </a:prstGeom>
          <a:noFill/>
          <a:ln w="38100">
            <a:solidFill>
              <a:srgbClr val="2E7D5B"/>
            </a:solidFill>
            <a:prstDash val="solid"/>
          </a:ln>
        </p:spPr>
      </p:sp>
      <p:sp>
        <p:nvSpPr>
          <p:cNvPr id="6" name="Shape 4"/>
          <p:cNvSpPr/>
          <p:nvPr/>
        </p:nvSpPr>
        <p:spPr>
          <a:xfrm>
            <a:off x="1133856" y="2231136"/>
            <a:ext cx="201168" cy="201168"/>
          </a:xfrm>
          <a:prstGeom prst="ellipse">
            <a:avLst/>
          </a:prstGeom>
          <a:solidFill>
            <a:srgbClr val="FFFFFF"/>
          </a:solidFill>
          <a:ln w="25400">
            <a:solidFill>
              <a:srgbClr val="5B6B62"/>
            </a:solidFill>
            <a:prstDash val="solid"/>
          </a:ln>
        </p:spPr>
      </p:sp>
      <p:sp>
        <p:nvSpPr>
          <p:cNvPr id="7" name="Text 5"/>
          <p:cNvSpPr/>
          <p:nvPr/>
        </p:nvSpPr>
        <p:spPr>
          <a:xfrm>
            <a:off x="594360"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0</a:t>
            </a:r>
            <a:endParaRPr lang="en-US" sz="950" dirty="0"/>
          </a:p>
        </p:txBody>
      </p:sp>
      <p:sp>
        <p:nvSpPr>
          <p:cNvPr id="8" name="Shape 6"/>
          <p:cNvSpPr/>
          <p:nvPr/>
        </p:nvSpPr>
        <p:spPr>
          <a:xfrm>
            <a:off x="397764" y="2834640"/>
            <a:ext cx="1673352" cy="1508760"/>
          </a:xfrm>
          <a:prstGeom prst="roundRect">
            <a:avLst>
              <a:gd name="adj" fmla="val 4242"/>
            </a:avLst>
          </a:prstGeom>
          <a:solidFill>
            <a:srgbClr val="FFFFFF"/>
          </a:solidFill>
          <a:ln w="12700">
            <a:solidFill>
              <a:srgbClr val="D6DDD3"/>
            </a:solidFill>
            <a:prstDash val="solid"/>
          </a:ln>
        </p:spPr>
      </p:sp>
      <p:sp>
        <p:nvSpPr>
          <p:cNvPr id="9" name="Text 7"/>
          <p:cNvSpPr/>
          <p:nvPr/>
        </p:nvSpPr>
        <p:spPr>
          <a:xfrm>
            <a:off x="470916"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Discovery</a:t>
            </a:r>
            <a:endParaRPr lang="en-US" sz="1150" dirty="0"/>
          </a:p>
          <a:p>
            <a:pPr algn="ctr" indent="0" marL="0">
              <a:buNone/>
            </a:pPr>
            <a:r>
              <a:rPr lang="en-US" sz="1150" b="1" dirty="0">
                <a:solidFill>
                  <a:srgbClr val="123D28"/>
                </a:solidFill>
                <a:latin typeface="Cambria" pitchFamily="34" charset="0"/>
                <a:ea typeface="Cambria" pitchFamily="34" charset="-122"/>
                <a:cs typeface="Cambria" pitchFamily="34" charset="-120"/>
              </a:rPr>
              <a:t>&amp; Setup</a:t>
            </a:r>
            <a:endParaRPr lang="en-US" sz="1150" dirty="0"/>
          </a:p>
        </p:txBody>
      </p:sp>
      <p:sp>
        <p:nvSpPr>
          <p:cNvPr id="10" name="Text 8"/>
          <p:cNvSpPr/>
          <p:nvPr/>
        </p:nvSpPr>
        <p:spPr>
          <a:xfrm>
            <a:off x="470916"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2 weeks</a:t>
            </a:r>
            <a:endParaRPr lang="en-US" sz="950" dirty="0"/>
          </a:p>
        </p:txBody>
      </p:sp>
      <p:sp>
        <p:nvSpPr>
          <p:cNvPr id="11" name="Shape 9"/>
          <p:cNvSpPr/>
          <p:nvPr/>
        </p:nvSpPr>
        <p:spPr>
          <a:xfrm>
            <a:off x="3054096" y="2203704"/>
            <a:ext cx="256032" cy="256032"/>
          </a:xfrm>
          <a:prstGeom prst="ellipse">
            <a:avLst/>
          </a:prstGeom>
          <a:solidFill>
            <a:srgbClr val="E08C3E"/>
          </a:solidFill>
          <a:ln w="25400">
            <a:solidFill>
              <a:srgbClr val="FFFFFF"/>
            </a:solidFill>
            <a:prstDash val="solid"/>
          </a:ln>
        </p:spPr>
      </p:sp>
      <p:sp>
        <p:nvSpPr>
          <p:cNvPr id="12" name="Text 10"/>
          <p:cNvSpPr/>
          <p:nvPr/>
        </p:nvSpPr>
        <p:spPr>
          <a:xfrm>
            <a:off x="2496312" y="2514600"/>
            <a:ext cx="1371600" cy="228600"/>
          </a:xfrm>
          <a:prstGeom prst="rect">
            <a:avLst/>
          </a:prstGeom>
          <a:noFill/>
          <a:ln/>
        </p:spPr>
        <p:txBody>
          <a:bodyPr wrap="square" rtlCol="0" anchor="ctr"/>
          <a:lstStyle/>
          <a:p>
            <a:pPr algn="ctr" indent="0" marL="0">
              <a:buNone/>
            </a:pPr>
            <a:r>
              <a:rPr lang="en-US" sz="900" b="1" dirty="0">
                <a:solidFill>
                  <a:srgbClr val="E08C3E"/>
                </a:solidFill>
                <a:latin typeface="Calibri" pitchFamily="34" charset="0"/>
                <a:ea typeface="Calibri" pitchFamily="34" charset="-122"/>
                <a:cs typeface="Calibri" pitchFamily="34" charset="-120"/>
              </a:rPr>
              <a:t>YOU ARE HERE</a:t>
            </a:r>
            <a:endParaRPr lang="en-US" sz="900" dirty="0"/>
          </a:p>
        </p:txBody>
      </p:sp>
      <p:sp>
        <p:nvSpPr>
          <p:cNvPr id="13" name="Text 11"/>
          <p:cNvSpPr/>
          <p:nvPr/>
        </p:nvSpPr>
        <p:spPr>
          <a:xfrm>
            <a:off x="2542032"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1</a:t>
            </a:r>
            <a:endParaRPr lang="en-US" sz="950" dirty="0"/>
          </a:p>
        </p:txBody>
      </p:sp>
      <p:sp>
        <p:nvSpPr>
          <p:cNvPr id="14" name="Shape 12"/>
          <p:cNvSpPr/>
          <p:nvPr/>
        </p:nvSpPr>
        <p:spPr>
          <a:xfrm>
            <a:off x="2345436" y="2834640"/>
            <a:ext cx="1673352" cy="1508760"/>
          </a:xfrm>
          <a:prstGeom prst="roundRect">
            <a:avLst>
              <a:gd name="adj" fmla="val 4242"/>
            </a:avLst>
          </a:prstGeom>
          <a:solidFill>
            <a:srgbClr val="FBEADA"/>
          </a:solidFill>
          <a:ln w="19050">
            <a:solidFill>
              <a:srgbClr val="E08C3E"/>
            </a:solidFill>
            <a:prstDash val="solid"/>
          </a:ln>
        </p:spPr>
      </p:sp>
      <p:sp>
        <p:nvSpPr>
          <p:cNvPr id="15" name="Text 13"/>
          <p:cNvSpPr/>
          <p:nvPr/>
        </p:nvSpPr>
        <p:spPr>
          <a:xfrm>
            <a:off x="2418588"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Web MVP</a:t>
            </a:r>
            <a:endParaRPr lang="en-US" sz="1150" dirty="0"/>
          </a:p>
          <a:p>
            <a:pPr algn="ctr" indent="0" marL="0">
              <a:buNone/>
            </a:pPr>
            <a:r>
              <a:rPr lang="en-US" sz="1150" b="1" dirty="0">
                <a:solidFill>
                  <a:srgbClr val="123D28"/>
                </a:solidFill>
                <a:latin typeface="Cambria" pitchFamily="34" charset="0"/>
                <a:ea typeface="Cambria" pitchFamily="34" charset="-122"/>
                <a:cs typeface="Cambria" pitchFamily="34" charset="-120"/>
              </a:rPr>
              <a:t>Build</a:t>
            </a:r>
            <a:endParaRPr lang="en-US" sz="1150" dirty="0"/>
          </a:p>
        </p:txBody>
      </p:sp>
      <p:sp>
        <p:nvSpPr>
          <p:cNvPr id="16" name="Text 14"/>
          <p:cNvSpPr/>
          <p:nvPr/>
        </p:nvSpPr>
        <p:spPr>
          <a:xfrm>
            <a:off x="2418588"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10–12 wks</a:t>
            </a:r>
            <a:endParaRPr lang="en-US" sz="950" dirty="0"/>
          </a:p>
        </p:txBody>
      </p:sp>
      <p:sp>
        <p:nvSpPr>
          <p:cNvPr id="17" name="Shape 15"/>
          <p:cNvSpPr/>
          <p:nvPr/>
        </p:nvSpPr>
        <p:spPr>
          <a:xfrm>
            <a:off x="5029200" y="2231136"/>
            <a:ext cx="201168" cy="201168"/>
          </a:xfrm>
          <a:prstGeom prst="ellipse">
            <a:avLst/>
          </a:prstGeom>
          <a:solidFill>
            <a:srgbClr val="FFFFFF"/>
          </a:solidFill>
          <a:ln w="25400">
            <a:solidFill>
              <a:srgbClr val="5B6B62"/>
            </a:solidFill>
            <a:prstDash val="solid"/>
          </a:ln>
        </p:spPr>
      </p:sp>
      <p:sp>
        <p:nvSpPr>
          <p:cNvPr id="18" name="Text 16"/>
          <p:cNvSpPr/>
          <p:nvPr/>
        </p:nvSpPr>
        <p:spPr>
          <a:xfrm>
            <a:off x="4489704"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2</a:t>
            </a:r>
            <a:endParaRPr lang="en-US" sz="950" dirty="0"/>
          </a:p>
        </p:txBody>
      </p:sp>
      <p:sp>
        <p:nvSpPr>
          <p:cNvPr id="19" name="Shape 17"/>
          <p:cNvSpPr/>
          <p:nvPr/>
        </p:nvSpPr>
        <p:spPr>
          <a:xfrm>
            <a:off x="4293108" y="2834640"/>
            <a:ext cx="1673352" cy="1508760"/>
          </a:xfrm>
          <a:prstGeom prst="roundRect">
            <a:avLst>
              <a:gd name="adj" fmla="val 4242"/>
            </a:avLst>
          </a:prstGeom>
          <a:solidFill>
            <a:srgbClr val="FFFFFF"/>
          </a:solidFill>
          <a:ln w="12700">
            <a:solidFill>
              <a:srgbClr val="D6DDD3"/>
            </a:solidFill>
            <a:prstDash val="solid"/>
          </a:ln>
        </p:spPr>
      </p:sp>
      <p:sp>
        <p:nvSpPr>
          <p:cNvPr id="20" name="Text 18"/>
          <p:cNvSpPr/>
          <p:nvPr/>
        </p:nvSpPr>
        <p:spPr>
          <a:xfrm>
            <a:off x="4366260"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Pilot</a:t>
            </a:r>
            <a:endParaRPr lang="en-US" sz="1150" dirty="0"/>
          </a:p>
          <a:p>
            <a:pPr algn="ctr" indent="0" marL="0">
              <a:buNone/>
            </a:pPr>
            <a:r>
              <a:rPr lang="en-US" sz="1150" b="1" dirty="0">
                <a:solidFill>
                  <a:srgbClr val="123D28"/>
                </a:solidFill>
                <a:latin typeface="Cambria" pitchFamily="34" charset="0"/>
                <a:ea typeface="Cambria" pitchFamily="34" charset="-122"/>
                <a:cs typeface="Cambria" pitchFamily="34" charset="-120"/>
              </a:rPr>
              <a:t>Operations</a:t>
            </a:r>
            <a:endParaRPr lang="en-US" sz="1150" dirty="0"/>
          </a:p>
        </p:txBody>
      </p:sp>
      <p:sp>
        <p:nvSpPr>
          <p:cNvPr id="21" name="Text 19"/>
          <p:cNvSpPr/>
          <p:nvPr/>
        </p:nvSpPr>
        <p:spPr>
          <a:xfrm>
            <a:off x="4366260"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8–12 wks</a:t>
            </a:r>
            <a:endParaRPr lang="en-US" sz="950" dirty="0"/>
          </a:p>
        </p:txBody>
      </p:sp>
      <p:sp>
        <p:nvSpPr>
          <p:cNvPr id="22" name="Shape 20"/>
          <p:cNvSpPr/>
          <p:nvPr/>
        </p:nvSpPr>
        <p:spPr>
          <a:xfrm>
            <a:off x="6976872" y="2231136"/>
            <a:ext cx="201168" cy="201168"/>
          </a:xfrm>
          <a:prstGeom prst="ellipse">
            <a:avLst/>
          </a:prstGeom>
          <a:solidFill>
            <a:srgbClr val="FFFFFF"/>
          </a:solidFill>
          <a:ln w="25400">
            <a:solidFill>
              <a:srgbClr val="5B6B62"/>
            </a:solidFill>
            <a:prstDash val="solid"/>
          </a:ln>
        </p:spPr>
      </p:sp>
      <p:sp>
        <p:nvSpPr>
          <p:cNvPr id="23" name="Text 21"/>
          <p:cNvSpPr/>
          <p:nvPr/>
        </p:nvSpPr>
        <p:spPr>
          <a:xfrm>
            <a:off x="6437376"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3</a:t>
            </a:r>
            <a:endParaRPr lang="en-US" sz="950" dirty="0"/>
          </a:p>
        </p:txBody>
      </p:sp>
      <p:sp>
        <p:nvSpPr>
          <p:cNvPr id="24" name="Shape 22"/>
          <p:cNvSpPr/>
          <p:nvPr/>
        </p:nvSpPr>
        <p:spPr>
          <a:xfrm>
            <a:off x="6240780" y="2834640"/>
            <a:ext cx="1673352" cy="1508760"/>
          </a:xfrm>
          <a:prstGeom prst="roundRect">
            <a:avLst>
              <a:gd name="adj" fmla="val 4242"/>
            </a:avLst>
          </a:prstGeom>
          <a:solidFill>
            <a:srgbClr val="FFFFFF"/>
          </a:solidFill>
          <a:ln w="12700">
            <a:solidFill>
              <a:srgbClr val="D6DDD3"/>
            </a:solidFill>
            <a:prstDash val="solid"/>
          </a:ln>
        </p:spPr>
      </p:sp>
      <p:sp>
        <p:nvSpPr>
          <p:cNvPr id="25" name="Text 23"/>
          <p:cNvSpPr/>
          <p:nvPr/>
        </p:nvSpPr>
        <p:spPr>
          <a:xfrm>
            <a:off x="6313932"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Fundraising</a:t>
            </a:r>
            <a:endParaRPr lang="en-US" sz="1150" dirty="0"/>
          </a:p>
        </p:txBody>
      </p:sp>
      <p:sp>
        <p:nvSpPr>
          <p:cNvPr id="26" name="Text 24"/>
          <p:cNvSpPr/>
          <p:nvPr/>
        </p:nvSpPr>
        <p:spPr>
          <a:xfrm>
            <a:off x="6313932"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Overlaps P2</a:t>
            </a:r>
            <a:endParaRPr lang="en-US" sz="950" dirty="0"/>
          </a:p>
        </p:txBody>
      </p:sp>
      <p:sp>
        <p:nvSpPr>
          <p:cNvPr id="27" name="Shape 25"/>
          <p:cNvSpPr/>
          <p:nvPr/>
        </p:nvSpPr>
        <p:spPr>
          <a:xfrm>
            <a:off x="8924544" y="2231136"/>
            <a:ext cx="201168" cy="201168"/>
          </a:xfrm>
          <a:prstGeom prst="ellipse">
            <a:avLst/>
          </a:prstGeom>
          <a:solidFill>
            <a:srgbClr val="FFFFFF"/>
          </a:solidFill>
          <a:ln w="25400">
            <a:solidFill>
              <a:srgbClr val="5B6B62"/>
            </a:solidFill>
            <a:prstDash val="solid"/>
          </a:ln>
        </p:spPr>
      </p:sp>
      <p:sp>
        <p:nvSpPr>
          <p:cNvPr id="28" name="Text 26"/>
          <p:cNvSpPr/>
          <p:nvPr/>
        </p:nvSpPr>
        <p:spPr>
          <a:xfrm>
            <a:off x="8385048"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4</a:t>
            </a:r>
            <a:endParaRPr lang="en-US" sz="950" dirty="0"/>
          </a:p>
        </p:txBody>
      </p:sp>
      <p:sp>
        <p:nvSpPr>
          <p:cNvPr id="29" name="Shape 27"/>
          <p:cNvSpPr/>
          <p:nvPr/>
        </p:nvSpPr>
        <p:spPr>
          <a:xfrm>
            <a:off x="8188452" y="2834640"/>
            <a:ext cx="1673352" cy="1508760"/>
          </a:xfrm>
          <a:prstGeom prst="roundRect">
            <a:avLst>
              <a:gd name="adj" fmla="val 4242"/>
            </a:avLst>
          </a:prstGeom>
          <a:solidFill>
            <a:srgbClr val="FFFFFF"/>
          </a:solidFill>
          <a:ln w="12700">
            <a:solidFill>
              <a:srgbClr val="D6DDD3"/>
            </a:solidFill>
            <a:prstDash val="solid"/>
          </a:ln>
        </p:spPr>
      </p:sp>
      <p:sp>
        <p:nvSpPr>
          <p:cNvPr id="30" name="Text 28"/>
          <p:cNvSpPr/>
          <p:nvPr/>
        </p:nvSpPr>
        <p:spPr>
          <a:xfrm>
            <a:off x="8261604"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Native</a:t>
            </a:r>
            <a:endParaRPr lang="en-US" sz="1150" dirty="0"/>
          </a:p>
          <a:p>
            <a:pPr algn="ctr" indent="0" marL="0">
              <a:buNone/>
            </a:pPr>
            <a:r>
              <a:rPr lang="en-US" sz="1150" b="1" dirty="0">
                <a:solidFill>
                  <a:srgbClr val="123D28"/>
                </a:solidFill>
                <a:latin typeface="Cambria" pitchFamily="34" charset="0"/>
                <a:ea typeface="Cambria" pitchFamily="34" charset="-122"/>
                <a:cs typeface="Cambria" pitchFamily="34" charset="-120"/>
              </a:rPr>
              <a:t>Apps</a:t>
            </a:r>
            <a:endParaRPr lang="en-US" sz="1150" dirty="0"/>
          </a:p>
        </p:txBody>
      </p:sp>
      <p:sp>
        <p:nvSpPr>
          <p:cNvPr id="31" name="Text 29"/>
          <p:cNvSpPr/>
          <p:nvPr/>
        </p:nvSpPr>
        <p:spPr>
          <a:xfrm>
            <a:off x="8261604"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12–16 wks</a:t>
            </a:r>
            <a:endParaRPr lang="en-US" sz="950" dirty="0"/>
          </a:p>
        </p:txBody>
      </p:sp>
      <p:sp>
        <p:nvSpPr>
          <p:cNvPr id="32" name="Shape 30"/>
          <p:cNvSpPr/>
          <p:nvPr/>
        </p:nvSpPr>
        <p:spPr>
          <a:xfrm>
            <a:off x="10853928" y="2212848"/>
            <a:ext cx="237744" cy="237744"/>
          </a:xfrm>
          <a:prstGeom prst="ellipse">
            <a:avLst/>
          </a:prstGeom>
          <a:solidFill>
            <a:srgbClr val="123D28"/>
          </a:solidFill>
          <a:ln/>
        </p:spPr>
      </p:sp>
      <p:sp>
        <p:nvSpPr>
          <p:cNvPr id="33" name="Text 31"/>
          <p:cNvSpPr/>
          <p:nvPr/>
        </p:nvSpPr>
        <p:spPr>
          <a:xfrm>
            <a:off x="10332720" y="1764792"/>
            <a:ext cx="1280160" cy="228600"/>
          </a:xfrm>
          <a:prstGeom prst="rect">
            <a:avLst/>
          </a:prstGeom>
          <a:noFill/>
          <a:ln/>
        </p:spPr>
        <p:txBody>
          <a:bodyPr wrap="square" rtlCol="0" anchor="ctr"/>
          <a:lstStyle/>
          <a:p>
            <a:pPr algn="ctr" indent="0" marL="0">
              <a:buNone/>
            </a:pPr>
            <a:r>
              <a:rPr lang="en-US" sz="950" b="1" dirty="0">
                <a:solidFill>
                  <a:srgbClr val="5B6B62"/>
                </a:solidFill>
                <a:latin typeface="Calibri" pitchFamily="34" charset="0"/>
                <a:ea typeface="Calibri" pitchFamily="34" charset="-122"/>
                <a:cs typeface="Calibri" pitchFamily="34" charset="-120"/>
              </a:rPr>
              <a:t>Phase 5</a:t>
            </a:r>
            <a:endParaRPr lang="en-US" sz="950" dirty="0"/>
          </a:p>
        </p:txBody>
      </p:sp>
      <p:sp>
        <p:nvSpPr>
          <p:cNvPr id="34" name="Shape 32"/>
          <p:cNvSpPr/>
          <p:nvPr/>
        </p:nvSpPr>
        <p:spPr>
          <a:xfrm>
            <a:off x="10136124" y="2834640"/>
            <a:ext cx="1673352" cy="1508760"/>
          </a:xfrm>
          <a:prstGeom prst="roundRect">
            <a:avLst>
              <a:gd name="adj" fmla="val 4242"/>
            </a:avLst>
          </a:prstGeom>
          <a:solidFill>
            <a:srgbClr val="FFFFFF"/>
          </a:solidFill>
          <a:ln w="12700">
            <a:solidFill>
              <a:srgbClr val="D6DDD3"/>
            </a:solidFill>
            <a:prstDash val="solid"/>
          </a:ln>
        </p:spPr>
      </p:sp>
      <p:sp>
        <p:nvSpPr>
          <p:cNvPr id="35" name="Text 33"/>
          <p:cNvSpPr/>
          <p:nvPr/>
        </p:nvSpPr>
        <p:spPr>
          <a:xfrm>
            <a:off x="10209276" y="2944368"/>
            <a:ext cx="1527048" cy="685800"/>
          </a:xfrm>
          <a:prstGeom prst="rect">
            <a:avLst/>
          </a:prstGeom>
          <a:noFill/>
          <a:ln/>
        </p:spPr>
        <p:txBody>
          <a:bodyPr wrap="square" rtlCol="0" anchor="t"/>
          <a:lstStyle/>
          <a:p>
            <a:pPr algn="ctr" indent="0" marL="0">
              <a:buNone/>
            </a:pPr>
            <a:r>
              <a:rPr lang="en-US" sz="1150" b="1" dirty="0">
                <a:solidFill>
                  <a:srgbClr val="123D28"/>
                </a:solidFill>
                <a:latin typeface="Cambria" pitchFamily="34" charset="0"/>
                <a:ea typeface="Cambria" pitchFamily="34" charset="-122"/>
                <a:cs typeface="Cambria" pitchFamily="34" charset="-120"/>
              </a:rPr>
              <a:t>Scale</a:t>
            </a:r>
            <a:endParaRPr lang="en-US" sz="1150" dirty="0"/>
          </a:p>
        </p:txBody>
      </p:sp>
      <p:sp>
        <p:nvSpPr>
          <p:cNvPr id="36" name="Text 34"/>
          <p:cNvSpPr/>
          <p:nvPr/>
        </p:nvSpPr>
        <p:spPr>
          <a:xfrm>
            <a:off x="10209276" y="3959352"/>
            <a:ext cx="1527048" cy="274320"/>
          </a:xfrm>
          <a:prstGeom prst="rect">
            <a:avLst/>
          </a:prstGeom>
          <a:noFill/>
          <a:ln/>
        </p:spPr>
        <p:txBody>
          <a:bodyPr wrap="square" rtlCol="0" anchor="ctr"/>
          <a:lstStyle/>
          <a:p>
            <a:pPr algn="ctr" indent="0" marL="0">
              <a:buNone/>
            </a:pPr>
            <a:r>
              <a:rPr lang="en-US" sz="950" dirty="0">
                <a:solidFill>
                  <a:srgbClr val="5B6B62"/>
                </a:solidFill>
                <a:latin typeface="Calibri" pitchFamily="34" charset="0"/>
                <a:ea typeface="Calibri" pitchFamily="34" charset="-122"/>
                <a:cs typeface="Calibri" pitchFamily="34" charset="-120"/>
              </a:rPr>
              <a:t>Ongoing</a:t>
            </a:r>
            <a:endParaRPr lang="en-US" sz="950" dirty="0"/>
          </a:p>
        </p:txBody>
      </p:sp>
      <p:sp>
        <p:nvSpPr>
          <p:cNvPr id="37" name="Text 35"/>
          <p:cNvSpPr/>
          <p:nvPr/>
        </p:nvSpPr>
        <p:spPr>
          <a:xfrm>
            <a:off x="548640" y="4709160"/>
            <a:ext cx="10607040" cy="365760"/>
          </a:xfrm>
          <a:prstGeom prst="rect">
            <a:avLst/>
          </a:prstGeom>
          <a:noFill/>
          <a:ln/>
        </p:spPr>
        <p:txBody>
          <a:bodyPr wrap="square" rtlCol="0" anchor="ctr"/>
          <a:lstStyle/>
          <a:p>
            <a:pPr algn="ctr" indent="0" marL="0">
              <a:buNone/>
            </a:pPr>
            <a:r>
              <a:rPr lang="en-US" sz="1150" i="1" dirty="0">
                <a:solidFill>
                  <a:srgbClr val="5B6B62"/>
                </a:solidFill>
                <a:latin typeface="Calibri" pitchFamily="34" charset="0"/>
                <a:ea typeface="Calibri" pitchFamily="34" charset="-122"/>
                <a:cs typeface="Calibri" pitchFamily="34" charset="-120"/>
              </a:rPr>
              <a:t>Phases 2 and 3 run in parallel — the pilot generates the evidence that fundraising conversations need.</a:t>
            </a:r>
            <a:endParaRPr lang="en-US" sz="1150" dirty="0"/>
          </a:p>
        </p:txBody>
      </p:sp>
      <p:sp>
        <p:nvSpPr>
          <p:cNvPr id="38" name="Shape 36"/>
          <p:cNvSpPr/>
          <p:nvPr/>
        </p:nvSpPr>
        <p:spPr>
          <a:xfrm>
            <a:off x="548640" y="5257800"/>
            <a:ext cx="10607040" cy="1051560"/>
          </a:xfrm>
          <a:prstGeom prst="roundRect">
            <a:avLst>
              <a:gd name="adj" fmla="val 6957"/>
            </a:avLst>
          </a:prstGeom>
          <a:solidFill>
            <a:srgbClr val="123D28"/>
          </a:solidFill>
          <a:ln/>
        </p:spPr>
      </p:sp>
      <p:sp>
        <p:nvSpPr>
          <p:cNvPr id="39" name="Text 37"/>
          <p:cNvSpPr/>
          <p:nvPr/>
        </p:nvSpPr>
        <p:spPr>
          <a:xfrm>
            <a:off x="548640" y="5394960"/>
            <a:ext cx="35356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~14 wks</a:t>
            </a:r>
            <a:endParaRPr lang="en-US" sz="1800" dirty="0"/>
          </a:p>
        </p:txBody>
      </p:sp>
      <p:sp>
        <p:nvSpPr>
          <p:cNvPr id="40" name="Text 38"/>
          <p:cNvSpPr/>
          <p:nvPr/>
        </p:nvSpPr>
        <p:spPr>
          <a:xfrm>
            <a:off x="548640" y="5806440"/>
            <a:ext cx="3535680" cy="365760"/>
          </a:xfrm>
          <a:prstGeom prst="rect">
            <a:avLst/>
          </a:prstGeom>
          <a:noFill/>
          <a:ln/>
        </p:spPr>
        <p:txBody>
          <a:bodyPr wrap="square" rtlCol="0" anchor="ctr"/>
          <a:lstStyle/>
          <a:p>
            <a:pPr algn="ctr" indent="0" marL="0">
              <a:buNone/>
            </a:pPr>
            <a:r>
              <a:rPr lang="en-US" sz="1000" dirty="0">
                <a:solidFill>
                  <a:srgbClr val="D9E9DF"/>
                </a:solidFill>
                <a:latin typeface="Calibri" pitchFamily="34" charset="0"/>
                <a:ea typeface="Calibri" pitchFamily="34" charset="-122"/>
                <a:cs typeface="Calibri" pitchFamily="34" charset="-120"/>
              </a:rPr>
              <a:t>To live pilot</a:t>
            </a:r>
            <a:endParaRPr lang="en-US" sz="1000" dirty="0"/>
          </a:p>
        </p:txBody>
      </p:sp>
      <p:sp>
        <p:nvSpPr>
          <p:cNvPr id="41" name="Text 39"/>
          <p:cNvSpPr/>
          <p:nvPr/>
        </p:nvSpPr>
        <p:spPr>
          <a:xfrm>
            <a:off x="4084320" y="5394960"/>
            <a:ext cx="35356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~24–26 wks</a:t>
            </a:r>
            <a:endParaRPr lang="en-US" sz="1800" dirty="0"/>
          </a:p>
        </p:txBody>
      </p:sp>
      <p:sp>
        <p:nvSpPr>
          <p:cNvPr id="42" name="Text 40"/>
          <p:cNvSpPr/>
          <p:nvPr/>
        </p:nvSpPr>
        <p:spPr>
          <a:xfrm>
            <a:off x="4084320" y="5806440"/>
            <a:ext cx="3535680" cy="365760"/>
          </a:xfrm>
          <a:prstGeom prst="rect">
            <a:avLst/>
          </a:prstGeom>
          <a:noFill/>
          <a:ln/>
        </p:spPr>
        <p:txBody>
          <a:bodyPr wrap="square" rtlCol="0" anchor="ctr"/>
          <a:lstStyle/>
          <a:p>
            <a:pPr algn="ctr" indent="0" marL="0">
              <a:buNone/>
            </a:pPr>
            <a:r>
              <a:rPr lang="en-US" sz="1000" dirty="0">
                <a:solidFill>
                  <a:srgbClr val="D9E9DF"/>
                </a:solidFill>
                <a:latin typeface="Calibri" pitchFamily="34" charset="0"/>
                <a:ea typeface="Calibri" pitchFamily="34" charset="-122"/>
                <a:cs typeface="Calibri" pitchFamily="34" charset="-120"/>
              </a:rPr>
              <a:t>To funding-ready traction</a:t>
            </a:r>
            <a:endParaRPr lang="en-US" sz="1000" dirty="0"/>
          </a:p>
        </p:txBody>
      </p:sp>
      <p:sp>
        <p:nvSpPr>
          <p:cNvPr id="43" name="Shape 41"/>
          <p:cNvSpPr/>
          <p:nvPr/>
        </p:nvSpPr>
        <p:spPr>
          <a:xfrm>
            <a:off x="4084320" y="5394960"/>
            <a:ext cx="0" cy="777240"/>
          </a:xfrm>
          <a:prstGeom prst="line">
            <a:avLst/>
          </a:prstGeom>
          <a:noFill/>
          <a:ln w="12700">
            <a:solidFill>
              <a:srgbClr val="3D7A5C"/>
            </a:solidFill>
            <a:prstDash val="solid"/>
          </a:ln>
        </p:spPr>
      </p:sp>
      <p:sp>
        <p:nvSpPr>
          <p:cNvPr id="44" name="Text 42"/>
          <p:cNvSpPr/>
          <p:nvPr/>
        </p:nvSpPr>
        <p:spPr>
          <a:xfrm>
            <a:off x="7620000" y="5394960"/>
            <a:ext cx="35356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+12–16 wks</a:t>
            </a:r>
            <a:endParaRPr lang="en-US" sz="1800" dirty="0"/>
          </a:p>
        </p:txBody>
      </p:sp>
      <p:sp>
        <p:nvSpPr>
          <p:cNvPr id="45" name="Text 43"/>
          <p:cNvSpPr/>
          <p:nvPr/>
        </p:nvSpPr>
        <p:spPr>
          <a:xfrm>
            <a:off x="7620000" y="5806440"/>
            <a:ext cx="3535680" cy="365760"/>
          </a:xfrm>
          <a:prstGeom prst="rect">
            <a:avLst/>
          </a:prstGeom>
          <a:noFill/>
          <a:ln/>
        </p:spPr>
        <p:txBody>
          <a:bodyPr wrap="square" rtlCol="0" anchor="ctr"/>
          <a:lstStyle/>
          <a:p>
            <a:pPr algn="ctr" indent="0" marL="0">
              <a:buNone/>
            </a:pPr>
            <a:r>
              <a:rPr lang="en-US" sz="1000" dirty="0">
                <a:solidFill>
                  <a:srgbClr val="D9E9DF"/>
                </a:solidFill>
                <a:latin typeface="Calibri" pitchFamily="34" charset="0"/>
                <a:ea typeface="Calibri" pitchFamily="34" charset="-122"/>
                <a:cs typeface="Calibri" pitchFamily="34" charset="-120"/>
              </a:rPr>
              <a:t>To native apps, post-raise</a:t>
            </a:r>
            <a:endParaRPr lang="en-US" sz="1000" dirty="0"/>
          </a:p>
        </p:txBody>
      </p:sp>
      <p:sp>
        <p:nvSpPr>
          <p:cNvPr id="46" name="Shape 44"/>
          <p:cNvSpPr/>
          <p:nvPr/>
        </p:nvSpPr>
        <p:spPr>
          <a:xfrm>
            <a:off x="7620000" y="5394960"/>
            <a:ext cx="0" cy="777240"/>
          </a:xfrm>
          <a:prstGeom prst="line">
            <a:avLst/>
          </a:prstGeom>
          <a:noFill/>
          <a:ln w="12700">
            <a:solidFill>
              <a:srgbClr val="3D7A5C"/>
            </a:solidFill>
            <a:prstDash val="solid"/>
          </a:ln>
        </p:spPr>
      </p:sp>
      <p:sp>
        <p:nvSpPr>
          <p:cNvPr id="47" name="Text 45"/>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48" name="Text 46"/>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Phased Roadmap</a:t>
            </a:r>
            <a:endParaRPr lang="en-US" sz="900" dirty="0"/>
          </a:p>
        </p:txBody>
      </p:sp>
      <p:sp>
        <p:nvSpPr>
          <p:cNvPr id="49" name="Text 47"/>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FOUNDATION</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What needs to be true before we launch</a:t>
            </a:r>
            <a:endParaRPr lang="en-US" sz="3000" dirty="0"/>
          </a:p>
        </p:txBody>
      </p:sp>
      <p:sp>
        <p:nvSpPr>
          <p:cNvPr id="4" name="Text 2"/>
          <p:cNvSpPr/>
          <p:nvPr/>
        </p:nvSpPr>
        <p:spPr>
          <a:xfrm>
            <a:off x="548640" y="1371600"/>
            <a:ext cx="10607040" cy="548640"/>
          </a:xfrm>
          <a:prstGeom prst="rect">
            <a:avLst/>
          </a:prstGeom>
          <a:noFill/>
          <a:ln/>
        </p:spPr>
        <p:txBody>
          <a:bodyPr wrap="square" rtlCol="0" anchor="ctr"/>
          <a:lstStyle/>
          <a:p>
            <a:pPr indent="0" marL="0">
              <a:buNone/>
            </a:pPr>
            <a:r>
              <a:rPr lang="en-US" sz="1300" dirty="0">
                <a:solidFill>
                  <a:srgbClr val="1F2A24"/>
                </a:solidFill>
                <a:latin typeface="Calibri" pitchFamily="34" charset="0"/>
                <a:ea typeface="Calibri" pitchFamily="34" charset="-122"/>
                <a:cs typeface="Calibri" pitchFamily="34" charset="-120"/>
              </a:rPr>
              <a:t>Healthcare is regulated, and getting the foundation right protects patients and the business. Three things run alongside the technical build:</a:t>
            </a:r>
            <a:endParaRPr lang="en-US" sz="1300" dirty="0"/>
          </a:p>
        </p:txBody>
      </p:sp>
      <p:sp>
        <p:nvSpPr>
          <p:cNvPr id="5" name="Shape 3"/>
          <p:cNvSpPr/>
          <p:nvPr/>
        </p:nvSpPr>
        <p:spPr>
          <a:xfrm>
            <a:off x="548640" y="2194560"/>
            <a:ext cx="3352800" cy="3200400"/>
          </a:xfrm>
          <a:prstGeom prst="roundRect">
            <a:avLst>
              <a:gd name="adj" fmla="val 2286"/>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1813560" y="2514600"/>
            <a:ext cx="822960" cy="822960"/>
          </a:xfrm>
          <a:prstGeom prst="ellipse">
            <a:avLst/>
          </a:prstGeom>
          <a:solidFill>
            <a:srgbClr val="E4EEE6"/>
          </a:solidFill>
          <a:ln/>
        </p:spPr>
      </p:sp>
      <p:pic>
        <p:nvPicPr>
          <p:cNvPr id="7" name="Image 0" descr="/home/claude/deck/icons/hospital.png">    </p:cNvPr>
          <p:cNvPicPr>
            <a:picLocks noChangeAspect="1"/>
          </p:cNvPicPr>
          <p:nvPr/>
        </p:nvPicPr>
        <p:blipFill>
          <a:blip r:embed="rId1"/>
          <a:stretch>
            <a:fillRect/>
          </a:stretch>
        </p:blipFill>
        <p:spPr>
          <a:xfrm>
            <a:off x="1978152" y="2679192"/>
            <a:ext cx="493776" cy="493776"/>
          </a:xfrm>
          <a:prstGeom prst="rect">
            <a:avLst/>
          </a:prstGeom>
        </p:spPr>
      </p:pic>
      <p:sp>
        <p:nvSpPr>
          <p:cNvPr id="8" name="Text 5"/>
          <p:cNvSpPr/>
          <p:nvPr/>
        </p:nvSpPr>
        <p:spPr>
          <a:xfrm>
            <a:off x="777240" y="3566160"/>
            <a:ext cx="2895600" cy="594360"/>
          </a:xfrm>
          <a:prstGeom prst="rect">
            <a:avLst/>
          </a:prstGeom>
          <a:noFill/>
          <a:ln/>
        </p:spPr>
        <p:txBody>
          <a:bodyPr wrap="square" rtlCol="0" anchor="ctr"/>
          <a:lstStyle/>
          <a:p>
            <a:pPr algn="ctr" indent="0" marL="0">
              <a:buNone/>
            </a:pPr>
            <a:r>
              <a:rPr lang="en-US" sz="1350" b="1" dirty="0">
                <a:solidFill>
                  <a:srgbClr val="123D28"/>
                </a:solidFill>
                <a:latin typeface="Cambria" pitchFamily="34" charset="0"/>
                <a:ea typeface="Cambria" pitchFamily="34" charset="-122"/>
                <a:cs typeface="Cambria" pitchFamily="34" charset="-120"/>
              </a:rPr>
              <a:t>A registered clinical partner</a:t>
            </a:r>
            <a:endParaRPr lang="en-US" sz="1350" dirty="0"/>
          </a:p>
        </p:txBody>
      </p:sp>
      <p:sp>
        <p:nvSpPr>
          <p:cNvPr id="9" name="Text 6"/>
          <p:cNvSpPr/>
          <p:nvPr/>
        </p:nvSpPr>
        <p:spPr>
          <a:xfrm>
            <a:off x="777240" y="4160520"/>
            <a:ext cx="2895600" cy="1143000"/>
          </a:xfrm>
          <a:prstGeom prst="rect">
            <a:avLst/>
          </a:prstGeom>
          <a:noFill/>
          <a:ln/>
        </p:spPr>
        <p:txBody>
          <a:bodyPr wrap="square" rtlCol="0" anchor="ctr"/>
          <a:lstStyle/>
          <a:p>
            <a:pPr algn="ctr" indent="0" marL="0">
              <a:lnSpc>
                <a:spcPct val="120000"/>
              </a:lnSpc>
              <a:buNone/>
            </a:pPr>
            <a:r>
              <a:rPr lang="en-US" sz="1050" dirty="0">
                <a:solidFill>
                  <a:srgbClr val="1F2A24"/>
                </a:solidFill>
                <a:latin typeface="Calibri" pitchFamily="34" charset="0"/>
                <a:ea typeface="Calibri" pitchFamily="34" charset="-122"/>
                <a:cs typeface="Calibri" pitchFamily="34" charset="-120"/>
              </a:rPr>
              <a:t>Daktari Mtaani operates in partnership with (or as) a health facility registered with the Kenya Medical Practitioners and Dentists Council (KMPDC) — how telemedicine is currently authorised in Kenya.</a:t>
            </a:r>
            <a:endParaRPr lang="en-US" sz="1050" dirty="0"/>
          </a:p>
        </p:txBody>
      </p:sp>
      <p:sp>
        <p:nvSpPr>
          <p:cNvPr id="10" name="Shape 7"/>
          <p:cNvSpPr/>
          <p:nvPr/>
        </p:nvSpPr>
        <p:spPr>
          <a:xfrm>
            <a:off x="4175760" y="2194560"/>
            <a:ext cx="3352800" cy="3200400"/>
          </a:xfrm>
          <a:prstGeom prst="roundRect">
            <a:avLst>
              <a:gd name="adj" fmla="val 2286"/>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5440680" y="2514600"/>
            <a:ext cx="822960" cy="822960"/>
          </a:xfrm>
          <a:prstGeom prst="ellipse">
            <a:avLst/>
          </a:prstGeom>
          <a:solidFill>
            <a:srgbClr val="E4EEE6"/>
          </a:solidFill>
          <a:ln/>
        </p:spPr>
      </p:sp>
      <p:pic>
        <p:nvPicPr>
          <p:cNvPr id="12" name="Image 1" descr="/home/claude/deck/icons/usermd.png">    </p:cNvPr>
          <p:cNvPicPr>
            <a:picLocks noChangeAspect="1"/>
          </p:cNvPicPr>
          <p:nvPr/>
        </p:nvPicPr>
        <p:blipFill>
          <a:blip r:embed="rId2"/>
          <a:stretch>
            <a:fillRect/>
          </a:stretch>
        </p:blipFill>
        <p:spPr>
          <a:xfrm>
            <a:off x="5605272" y="2679192"/>
            <a:ext cx="493776" cy="493776"/>
          </a:xfrm>
          <a:prstGeom prst="rect">
            <a:avLst/>
          </a:prstGeom>
        </p:spPr>
      </p:pic>
      <p:sp>
        <p:nvSpPr>
          <p:cNvPr id="13" name="Text 9"/>
          <p:cNvSpPr/>
          <p:nvPr/>
        </p:nvSpPr>
        <p:spPr>
          <a:xfrm>
            <a:off x="4404360" y="3566160"/>
            <a:ext cx="2895600" cy="594360"/>
          </a:xfrm>
          <a:prstGeom prst="rect">
            <a:avLst/>
          </a:prstGeom>
          <a:noFill/>
          <a:ln/>
        </p:spPr>
        <p:txBody>
          <a:bodyPr wrap="square" rtlCol="0" anchor="ctr"/>
          <a:lstStyle/>
          <a:p>
            <a:pPr algn="ctr" indent="0" marL="0">
              <a:buNone/>
            </a:pPr>
            <a:r>
              <a:rPr lang="en-US" sz="1350" b="1" dirty="0">
                <a:solidFill>
                  <a:srgbClr val="123D28"/>
                </a:solidFill>
                <a:latin typeface="Cambria" pitchFamily="34" charset="0"/>
                <a:ea typeface="Cambria" pitchFamily="34" charset="-122"/>
                <a:cs typeface="Cambria" pitchFamily="34" charset="-120"/>
              </a:rPr>
              <a:t>Verified doctors only</a:t>
            </a:r>
            <a:endParaRPr lang="en-US" sz="1350" dirty="0"/>
          </a:p>
        </p:txBody>
      </p:sp>
      <p:sp>
        <p:nvSpPr>
          <p:cNvPr id="14" name="Text 10"/>
          <p:cNvSpPr/>
          <p:nvPr/>
        </p:nvSpPr>
        <p:spPr>
          <a:xfrm>
            <a:off x="4404360" y="4160520"/>
            <a:ext cx="2895600" cy="1143000"/>
          </a:xfrm>
          <a:prstGeom prst="rect">
            <a:avLst/>
          </a:prstGeom>
          <a:noFill/>
          <a:ln/>
        </p:spPr>
        <p:txBody>
          <a:bodyPr wrap="square" rtlCol="0" anchor="ctr"/>
          <a:lstStyle/>
          <a:p>
            <a:pPr algn="ctr" indent="0" marL="0">
              <a:lnSpc>
                <a:spcPct val="120000"/>
              </a:lnSpc>
              <a:buNone/>
            </a:pPr>
            <a:r>
              <a:rPr lang="en-US" sz="1050" dirty="0">
                <a:solidFill>
                  <a:srgbClr val="1F2A24"/>
                </a:solidFill>
                <a:latin typeface="Calibri" pitchFamily="34" charset="0"/>
                <a:ea typeface="Calibri" pitchFamily="34" charset="-122"/>
                <a:cs typeface="Calibri" pitchFamily="34" charset="-120"/>
              </a:rPr>
              <a:t>Every doctor holds a current KMPDC licence, checked before they go live and reviewed periodically.</a:t>
            </a:r>
            <a:endParaRPr lang="en-US" sz="1050" dirty="0"/>
          </a:p>
        </p:txBody>
      </p:sp>
      <p:sp>
        <p:nvSpPr>
          <p:cNvPr id="15" name="Shape 11"/>
          <p:cNvSpPr/>
          <p:nvPr/>
        </p:nvSpPr>
        <p:spPr>
          <a:xfrm>
            <a:off x="7802880" y="2194560"/>
            <a:ext cx="3352800" cy="3200400"/>
          </a:xfrm>
          <a:prstGeom prst="roundRect">
            <a:avLst>
              <a:gd name="adj" fmla="val 2286"/>
            </a:avLst>
          </a:prstGeom>
          <a:solidFill>
            <a:srgbClr val="FFFFFF"/>
          </a:solidFill>
          <a:ln w="12700">
            <a:solidFill>
              <a:srgbClr val="D6DDD3"/>
            </a:solidFill>
            <a:prstDash val="solid"/>
          </a:ln>
          <a:effectLst>
            <a:outerShdw sx="100000" sy="100000" kx="0" ky="0" algn="bl" rotWithShape="0" blurRad="63500" dist="25400" dir="5400000">
              <a:srgbClr val="000000">
                <a:alpha val="10000"/>
              </a:srgbClr>
            </a:outerShdw>
          </a:effectLst>
        </p:spPr>
      </p:sp>
      <p:sp>
        <p:nvSpPr>
          <p:cNvPr id="16" name="Shape 12"/>
          <p:cNvSpPr/>
          <p:nvPr/>
        </p:nvSpPr>
        <p:spPr>
          <a:xfrm>
            <a:off x="9067800" y="2514600"/>
            <a:ext cx="822960" cy="822960"/>
          </a:xfrm>
          <a:prstGeom prst="ellipse">
            <a:avLst/>
          </a:prstGeom>
          <a:solidFill>
            <a:srgbClr val="E4EEE6"/>
          </a:solidFill>
          <a:ln/>
        </p:spPr>
      </p:sp>
      <p:pic>
        <p:nvPicPr>
          <p:cNvPr id="17" name="Image 2" descr="/home/claude/deck/icons/lock.png">    </p:cNvPr>
          <p:cNvPicPr>
            <a:picLocks noChangeAspect="1"/>
          </p:cNvPicPr>
          <p:nvPr/>
        </p:nvPicPr>
        <p:blipFill>
          <a:blip r:embed="rId3"/>
          <a:stretch>
            <a:fillRect/>
          </a:stretch>
        </p:blipFill>
        <p:spPr>
          <a:xfrm>
            <a:off x="9232392" y="2679192"/>
            <a:ext cx="493776" cy="493776"/>
          </a:xfrm>
          <a:prstGeom prst="rect">
            <a:avLst/>
          </a:prstGeom>
        </p:spPr>
      </p:pic>
      <p:sp>
        <p:nvSpPr>
          <p:cNvPr id="18" name="Text 13"/>
          <p:cNvSpPr/>
          <p:nvPr/>
        </p:nvSpPr>
        <p:spPr>
          <a:xfrm>
            <a:off x="8031480" y="3566160"/>
            <a:ext cx="2895600" cy="594360"/>
          </a:xfrm>
          <a:prstGeom prst="rect">
            <a:avLst/>
          </a:prstGeom>
          <a:noFill/>
          <a:ln/>
        </p:spPr>
        <p:txBody>
          <a:bodyPr wrap="square" rtlCol="0" anchor="ctr"/>
          <a:lstStyle/>
          <a:p>
            <a:pPr algn="ctr" indent="0" marL="0">
              <a:buNone/>
            </a:pPr>
            <a:r>
              <a:rPr lang="en-US" sz="1350" b="1" dirty="0">
                <a:solidFill>
                  <a:srgbClr val="123D28"/>
                </a:solidFill>
                <a:latin typeface="Cambria" pitchFamily="34" charset="0"/>
                <a:ea typeface="Cambria" pitchFamily="34" charset="-122"/>
                <a:cs typeface="Cambria" pitchFamily="34" charset="-120"/>
              </a:rPr>
              <a:t>Data protection certification</a:t>
            </a:r>
            <a:endParaRPr lang="en-US" sz="1350" dirty="0"/>
          </a:p>
        </p:txBody>
      </p:sp>
      <p:sp>
        <p:nvSpPr>
          <p:cNvPr id="19" name="Text 14"/>
          <p:cNvSpPr/>
          <p:nvPr/>
        </p:nvSpPr>
        <p:spPr>
          <a:xfrm>
            <a:off x="8031480" y="4160520"/>
            <a:ext cx="2895600" cy="1143000"/>
          </a:xfrm>
          <a:prstGeom prst="rect">
            <a:avLst/>
          </a:prstGeom>
          <a:noFill/>
          <a:ln/>
        </p:spPr>
        <p:txBody>
          <a:bodyPr wrap="square" rtlCol="0" anchor="ctr"/>
          <a:lstStyle/>
          <a:p>
            <a:pPr algn="ctr" indent="0" marL="0">
              <a:lnSpc>
                <a:spcPct val="120000"/>
              </a:lnSpc>
              <a:buNone/>
            </a:pPr>
            <a:r>
              <a:rPr lang="en-US" sz="1050" dirty="0">
                <a:solidFill>
                  <a:srgbClr val="1F2A24"/>
                </a:solidFill>
                <a:latin typeface="Calibri" pitchFamily="34" charset="0"/>
                <a:ea typeface="Calibri" pitchFamily="34" charset="-122"/>
                <a:cs typeface="Calibri" pitchFamily="34" charset="-120"/>
              </a:rPr>
              <a:t>As of 2025, KMPDC requires a Certificate of Data Handler/Processor from the ODPC. Patient data is encrypted and access-logged from day one.</a:t>
            </a:r>
            <a:endParaRPr lang="en-US" sz="1050" dirty="0"/>
          </a:p>
        </p:txBody>
      </p:sp>
      <p:sp>
        <p:nvSpPr>
          <p:cNvPr id="20" name="Text 15"/>
          <p:cNvSpPr/>
          <p:nvPr/>
        </p:nvSpPr>
        <p:spPr>
          <a:xfrm>
            <a:off x="548640" y="5623560"/>
            <a:ext cx="10607040" cy="457200"/>
          </a:xfrm>
          <a:prstGeom prst="rect">
            <a:avLst/>
          </a:prstGeom>
          <a:noFill/>
          <a:ln/>
        </p:spPr>
        <p:txBody>
          <a:bodyPr wrap="square" rtlCol="0" anchor="ctr"/>
          <a:lstStyle/>
          <a:p>
            <a:pPr algn="ctr" indent="0" marL="0">
              <a:buNone/>
            </a:pPr>
            <a:r>
              <a:rPr lang="en-US" sz="1150" i="1" dirty="0">
                <a:solidFill>
                  <a:srgbClr val="5B6B62"/>
                </a:solidFill>
                <a:latin typeface="Calibri" pitchFamily="34" charset="0"/>
                <a:ea typeface="Calibri" pitchFamily="34" charset="-122"/>
                <a:cs typeface="Calibri" pitchFamily="34" charset="-120"/>
              </a:rPr>
              <a:t>These are workstreams for the client and legal/clinical advisors to lead in Phase 0 and Phase 1 — on the critical path to launch.</a:t>
            </a:r>
            <a:endParaRPr lang="en-US" sz="1150" dirty="0"/>
          </a:p>
        </p:txBody>
      </p:sp>
      <p:sp>
        <p:nvSpPr>
          <p:cNvPr id="21" name="Text 16"/>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22" name="Text 17"/>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Regulatory Foundation</a:t>
            </a:r>
            <a:endParaRPr lang="en-US" sz="900" dirty="0"/>
          </a:p>
        </p:txBody>
      </p:sp>
      <p:sp>
        <p:nvSpPr>
          <p:cNvPr id="23" name="Text 18"/>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PARTNERSHIP</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What we need from you</a:t>
            </a:r>
            <a:endParaRPr lang="en-US" sz="3000" dirty="0"/>
          </a:p>
        </p:txBody>
      </p:sp>
      <p:sp>
        <p:nvSpPr>
          <p:cNvPr id="4" name="Shape 2"/>
          <p:cNvSpPr/>
          <p:nvPr/>
        </p:nvSpPr>
        <p:spPr>
          <a:xfrm>
            <a:off x="548640" y="1508760"/>
            <a:ext cx="10607040" cy="932688"/>
          </a:xfrm>
          <a:prstGeom prst="roundRect">
            <a:avLst>
              <a:gd name="adj" fmla="val 5882"/>
            </a:avLst>
          </a:prstGeom>
          <a:solidFill>
            <a:srgbClr val="FFFFFF"/>
          </a:solidFill>
          <a:ln w="9525">
            <a:solidFill>
              <a:srgbClr val="D6DDD3"/>
            </a:solidFill>
            <a:prstDash val="solid"/>
          </a:ln>
        </p:spPr>
      </p:sp>
      <p:sp>
        <p:nvSpPr>
          <p:cNvPr id="5" name="Shape 3"/>
          <p:cNvSpPr/>
          <p:nvPr/>
        </p:nvSpPr>
        <p:spPr>
          <a:xfrm>
            <a:off x="777240" y="1673352"/>
            <a:ext cx="603504" cy="603504"/>
          </a:xfrm>
          <a:prstGeom prst="ellipse">
            <a:avLst/>
          </a:prstGeom>
          <a:solidFill>
            <a:srgbClr val="123D28"/>
          </a:solidFill>
          <a:ln/>
        </p:spPr>
      </p:sp>
      <p:pic>
        <p:nvPicPr>
          <p:cNvPr id="6" name="Image 0" descr="/home/claude/deck/icons/hospital.png">    </p:cNvPr>
          <p:cNvPicPr>
            <a:picLocks noChangeAspect="1"/>
          </p:cNvPicPr>
          <p:nvPr/>
        </p:nvPicPr>
        <p:blipFill>
          <a:blip r:embed="rId1"/>
          <a:stretch>
            <a:fillRect/>
          </a:stretch>
        </p:blipFill>
        <p:spPr>
          <a:xfrm>
            <a:off x="914400" y="1810512"/>
            <a:ext cx="329184" cy="329184"/>
          </a:xfrm>
          <a:prstGeom prst="rect">
            <a:avLst/>
          </a:prstGeom>
        </p:spPr>
      </p:pic>
      <p:sp>
        <p:nvSpPr>
          <p:cNvPr id="7" name="Text 4"/>
          <p:cNvSpPr/>
          <p:nvPr/>
        </p:nvSpPr>
        <p:spPr>
          <a:xfrm>
            <a:off x="1645920" y="1618488"/>
            <a:ext cx="2377440" cy="713232"/>
          </a:xfrm>
          <a:prstGeom prst="rect">
            <a:avLst/>
          </a:prstGeom>
          <a:noFill/>
          <a:ln/>
        </p:spPr>
        <p:txBody>
          <a:bodyPr wrap="square" rtlCol="0" anchor="ctr"/>
          <a:lstStyle/>
          <a:p>
            <a:pPr indent="0" marL="0">
              <a:buNone/>
            </a:pPr>
            <a:r>
              <a:rPr lang="en-US" sz="1350" b="1" dirty="0">
                <a:solidFill>
                  <a:srgbClr val="123D28"/>
                </a:solidFill>
                <a:latin typeface="Cambria" pitchFamily="34" charset="0"/>
                <a:ea typeface="Cambria" pitchFamily="34" charset="-122"/>
                <a:cs typeface="Cambria" pitchFamily="34" charset="-120"/>
              </a:rPr>
              <a:t>Clinical partner</a:t>
            </a:r>
            <a:endParaRPr lang="en-US" sz="1350" dirty="0"/>
          </a:p>
        </p:txBody>
      </p:sp>
      <p:sp>
        <p:nvSpPr>
          <p:cNvPr id="8" name="Text 5"/>
          <p:cNvSpPr/>
          <p:nvPr/>
        </p:nvSpPr>
        <p:spPr>
          <a:xfrm>
            <a:off x="4114800" y="1618488"/>
            <a:ext cx="6858000" cy="713232"/>
          </a:xfrm>
          <a:prstGeom prst="rect">
            <a:avLst/>
          </a:prstGeom>
          <a:noFill/>
          <a:ln/>
        </p:spPr>
        <p:txBody>
          <a:bodyPr wrap="square" rtlCol="0" anchor="ctr"/>
          <a:lstStyle/>
          <a:p>
            <a:pPr indent="0" marL="0">
              <a:lnSpc>
                <a:spcPct val="115000"/>
              </a:lnSpc>
              <a:buNone/>
            </a:pPr>
            <a:r>
              <a:rPr lang="en-US" sz="1150" dirty="0">
                <a:solidFill>
                  <a:srgbClr val="1F2A24"/>
                </a:solidFill>
                <a:latin typeface="Calibri" pitchFamily="34" charset="0"/>
                <a:ea typeface="Calibri" pitchFamily="34" charset="-122"/>
                <a:cs typeface="Calibri" pitchFamily="34" charset="-120"/>
              </a:rPr>
              <a:t>A registered facility or clinical lead to anchor the platform and sign off on protocols.</a:t>
            </a:r>
            <a:endParaRPr lang="en-US" sz="1150" dirty="0"/>
          </a:p>
        </p:txBody>
      </p:sp>
      <p:sp>
        <p:nvSpPr>
          <p:cNvPr id="9" name="Shape 6"/>
          <p:cNvSpPr/>
          <p:nvPr/>
        </p:nvSpPr>
        <p:spPr>
          <a:xfrm>
            <a:off x="548640" y="2514600"/>
            <a:ext cx="10607040" cy="932688"/>
          </a:xfrm>
          <a:prstGeom prst="roundRect">
            <a:avLst>
              <a:gd name="adj" fmla="val 5882"/>
            </a:avLst>
          </a:prstGeom>
          <a:solidFill>
            <a:srgbClr val="E4EEE6"/>
          </a:solidFill>
          <a:ln w="9525">
            <a:solidFill>
              <a:srgbClr val="D6DDD3"/>
            </a:solidFill>
            <a:prstDash val="solid"/>
          </a:ln>
        </p:spPr>
      </p:sp>
      <p:sp>
        <p:nvSpPr>
          <p:cNvPr id="10" name="Shape 7"/>
          <p:cNvSpPr/>
          <p:nvPr/>
        </p:nvSpPr>
        <p:spPr>
          <a:xfrm>
            <a:off x="777240" y="2679192"/>
            <a:ext cx="603504" cy="603504"/>
          </a:xfrm>
          <a:prstGeom prst="ellipse">
            <a:avLst/>
          </a:prstGeom>
          <a:solidFill>
            <a:srgbClr val="123D28"/>
          </a:solidFill>
          <a:ln/>
        </p:spPr>
      </p:sp>
      <p:pic>
        <p:nvPicPr>
          <p:cNvPr id="11" name="Image 1" descr="/home/claude/deck/icons/usermd.png">    </p:cNvPr>
          <p:cNvPicPr>
            <a:picLocks noChangeAspect="1"/>
          </p:cNvPicPr>
          <p:nvPr/>
        </p:nvPicPr>
        <p:blipFill>
          <a:blip r:embed="rId2"/>
          <a:stretch>
            <a:fillRect/>
          </a:stretch>
        </p:blipFill>
        <p:spPr>
          <a:xfrm>
            <a:off x="914400" y="2816352"/>
            <a:ext cx="329184" cy="329184"/>
          </a:xfrm>
          <a:prstGeom prst="rect">
            <a:avLst/>
          </a:prstGeom>
        </p:spPr>
      </p:pic>
      <p:sp>
        <p:nvSpPr>
          <p:cNvPr id="12" name="Text 8"/>
          <p:cNvSpPr/>
          <p:nvPr/>
        </p:nvSpPr>
        <p:spPr>
          <a:xfrm>
            <a:off x="1645920" y="2624328"/>
            <a:ext cx="2377440" cy="713232"/>
          </a:xfrm>
          <a:prstGeom prst="rect">
            <a:avLst/>
          </a:prstGeom>
          <a:noFill/>
          <a:ln/>
        </p:spPr>
        <p:txBody>
          <a:bodyPr wrap="square" rtlCol="0" anchor="ctr"/>
          <a:lstStyle/>
          <a:p>
            <a:pPr indent="0" marL="0">
              <a:buNone/>
            </a:pPr>
            <a:r>
              <a:rPr lang="en-US" sz="1350" b="1" dirty="0">
                <a:solidFill>
                  <a:srgbClr val="123D28"/>
                </a:solidFill>
                <a:latin typeface="Cambria" pitchFamily="34" charset="0"/>
                <a:ea typeface="Cambria" pitchFamily="34" charset="-122"/>
                <a:cs typeface="Cambria" pitchFamily="34" charset="-120"/>
              </a:rPr>
              <a:t>Doctor recruitment</a:t>
            </a:r>
            <a:endParaRPr lang="en-US" sz="1350" dirty="0"/>
          </a:p>
        </p:txBody>
      </p:sp>
      <p:sp>
        <p:nvSpPr>
          <p:cNvPr id="13" name="Text 9"/>
          <p:cNvSpPr/>
          <p:nvPr/>
        </p:nvSpPr>
        <p:spPr>
          <a:xfrm>
            <a:off x="4114800" y="2624328"/>
            <a:ext cx="6858000" cy="713232"/>
          </a:xfrm>
          <a:prstGeom prst="rect">
            <a:avLst/>
          </a:prstGeom>
          <a:noFill/>
          <a:ln/>
        </p:spPr>
        <p:txBody>
          <a:bodyPr wrap="square" rtlCol="0" anchor="ctr"/>
          <a:lstStyle/>
          <a:p>
            <a:pPr indent="0" marL="0">
              <a:lnSpc>
                <a:spcPct val="115000"/>
              </a:lnSpc>
              <a:buNone/>
            </a:pPr>
            <a:r>
              <a:rPr lang="en-US" sz="1150" dirty="0">
                <a:solidFill>
                  <a:srgbClr val="1F2A24"/>
                </a:solidFill>
                <a:latin typeface="Calibri" pitchFamily="34" charset="0"/>
                <a:ea typeface="Calibri" pitchFamily="34" charset="-122"/>
                <a:cs typeface="Calibri" pitchFamily="34" charset="-120"/>
              </a:rPr>
              <a:t>5–10 doctors for the pilot, covering general practice and 1–2 common specialties.</a:t>
            </a:r>
            <a:endParaRPr lang="en-US" sz="1150" dirty="0"/>
          </a:p>
        </p:txBody>
      </p:sp>
      <p:sp>
        <p:nvSpPr>
          <p:cNvPr id="14" name="Shape 10"/>
          <p:cNvSpPr/>
          <p:nvPr/>
        </p:nvSpPr>
        <p:spPr>
          <a:xfrm>
            <a:off x="548640" y="3520440"/>
            <a:ext cx="10607040" cy="932688"/>
          </a:xfrm>
          <a:prstGeom prst="roundRect">
            <a:avLst>
              <a:gd name="adj" fmla="val 5882"/>
            </a:avLst>
          </a:prstGeom>
          <a:solidFill>
            <a:srgbClr val="FFFFFF"/>
          </a:solidFill>
          <a:ln w="9525">
            <a:solidFill>
              <a:srgbClr val="D6DDD3"/>
            </a:solidFill>
            <a:prstDash val="solid"/>
          </a:ln>
        </p:spPr>
      </p:sp>
      <p:sp>
        <p:nvSpPr>
          <p:cNvPr id="15" name="Shape 11"/>
          <p:cNvSpPr/>
          <p:nvPr/>
        </p:nvSpPr>
        <p:spPr>
          <a:xfrm>
            <a:off x="777240" y="3685032"/>
            <a:ext cx="603504" cy="603504"/>
          </a:xfrm>
          <a:prstGeom prst="ellipse">
            <a:avLst/>
          </a:prstGeom>
          <a:solidFill>
            <a:srgbClr val="123D28"/>
          </a:solidFill>
          <a:ln/>
        </p:spPr>
      </p:sp>
      <p:pic>
        <p:nvPicPr>
          <p:cNvPr id="16" name="Image 2" descr="/home/claude/deck/icons/mapmarker.png">    </p:cNvPr>
          <p:cNvPicPr>
            <a:picLocks noChangeAspect="1"/>
          </p:cNvPicPr>
          <p:nvPr/>
        </p:nvPicPr>
        <p:blipFill>
          <a:blip r:embed="rId3"/>
          <a:stretch>
            <a:fillRect/>
          </a:stretch>
        </p:blipFill>
        <p:spPr>
          <a:xfrm>
            <a:off x="914400" y="3822192"/>
            <a:ext cx="329184" cy="329184"/>
          </a:xfrm>
          <a:prstGeom prst="rect">
            <a:avLst/>
          </a:prstGeom>
        </p:spPr>
      </p:pic>
      <p:sp>
        <p:nvSpPr>
          <p:cNvPr id="17" name="Text 12"/>
          <p:cNvSpPr/>
          <p:nvPr/>
        </p:nvSpPr>
        <p:spPr>
          <a:xfrm>
            <a:off x="1645920" y="3630168"/>
            <a:ext cx="2377440" cy="713232"/>
          </a:xfrm>
          <a:prstGeom prst="rect">
            <a:avLst/>
          </a:prstGeom>
          <a:noFill/>
          <a:ln/>
        </p:spPr>
        <p:txBody>
          <a:bodyPr wrap="square" rtlCol="0" anchor="ctr"/>
          <a:lstStyle/>
          <a:p>
            <a:pPr indent="0" marL="0">
              <a:buNone/>
            </a:pPr>
            <a:r>
              <a:rPr lang="en-US" sz="1350" b="1" dirty="0">
                <a:solidFill>
                  <a:srgbClr val="123D28"/>
                </a:solidFill>
                <a:latin typeface="Cambria" pitchFamily="34" charset="0"/>
                <a:ea typeface="Cambria" pitchFamily="34" charset="-122"/>
                <a:cs typeface="Cambria" pitchFamily="34" charset="-120"/>
              </a:rPr>
              <a:t>Pilot area decision</a:t>
            </a:r>
            <a:endParaRPr lang="en-US" sz="1350" dirty="0"/>
          </a:p>
        </p:txBody>
      </p:sp>
      <p:sp>
        <p:nvSpPr>
          <p:cNvPr id="18" name="Text 13"/>
          <p:cNvSpPr/>
          <p:nvPr/>
        </p:nvSpPr>
        <p:spPr>
          <a:xfrm>
            <a:off x="4114800" y="3630168"/>
            <a:ext cx="6858000" cy="713232"/>
          </a:xfrm>
          <a:prstGeom prst="rect">
            <a:avLst/>
          </a:prstGeom>
          <a:noFill/>
          <a:ln/>
        </p:spPr>
        <p:txBody>
          <a:bodyPr wrap="square" rtlCol="0" anchor="ctr"/>
          <a:lstStyle/>
          <a:p>
            <a:pPr indent="0" marL="0">
              <a:lnSpc>
                <a:spcPct val="115000"/>
              </a:lnSpc>
              <a:buNone/>
            </a:pPr>
            <a:r>
              <a:rPr lang="en-US" sz="1150" dirty="0">
                <a:solidFill>
                  <a:srgbClr val="1F2A24"/>
                </a:solidFill>
                <a:latin typeface="Calibri" pitchFamily="34" charset="0"/>
                <a:ea typeface="Calibri" pitchFamily="34" charset="-122"/>
                <a:cs typeface="Calibri" pitchFamily="34" charset="-120"/>
              </a:rPr>
              <a:t>Agreement on the neighbourhood to launch in, based on doctor availability and demand.</a:t>
            </a:r>
            <a:endParaRPr lang="en-US" sz="1150" dirty="0"/>
          </a:p>
        </p:txBody>
      </p:sp>
      <p:sp>
        <p:nvSpPr>
          <p:cNvPr id="19" name="Shape 14"/>
          <p:cNvSpPr/>
          <p:nvPr/>
        </p:nvSpPr>
        <p:spPr>
          <a:xfrm>
            <a:off x="548640" y="4526280"/>
            <a:ext cx="10607040" cy="932688"/>
          </a:xfrm>
          <a:prstGeom prst="roundRect">
            <a:avLst>
              <a:gd name="adj" fmla="val 5882"/>
            </a:avLst>
          </a:prstGeom>
          <a:solidFill>
            <a:srgbClr val="E4EEE6"/>
          </a:solidFill>
          <a:ln w="9525">
            <a:solidFill>
              <a:srgbClr val="D6DDD3"/>
            </a:solidFill>
            <a:prstDash val="solid"/>
          </a:ln>
        </p:spPr>
      </p:sp>
      <p:sp>
        <p:nvSpPr>
          <p:cNvPr id="20" name="Shape 15"/>
          <p:cNvSpPr/>
          <p:nvPr/>
        </p:nvSpPr>
        <p:spPr>
          <a:xfrm>
            <a:off x="777240" y="4690872"/>
            <a:ext cx="603504" cy="603504"/>
          </a:xfrm>
          <a:prstGeom prst="ellipse">
            <a:avLst/>
          </a:prstGeom>
          <a:solidFill>
            <a:srgbClr val="123D28"/>
          </a:solidFill>
          <a:ln/>
        </p:spPr>
      </p:sp>
      <p:pic>
        <p:nvPicPr>
          <p:cNvPr id="21" name="Image 3" descr="/home/claude/deck/icons/balancescale.png">    </p:cNvPr>
          <p:cNvPicPr>
            <a:picLocks noChangeAspect="1"/>
          </p:cNvPicPr>
          <p:nvPr/>
        </p:nvPicPr>
        <p:blipFill>
          <a:blip r:embed="rId4"/>
          <a:stretch>
            <a:fillRect/>
          </a:stretch>
        </p:blipFill>
        <p:spPr>
          <a:xfrm>
            <a:off x="914400" y="4828032"/>
            <a:ext cx="329184" cy="329184"/>
          </a:xfrm>
          <a:prstGeom prst="rect">
            <a:avLst/>
          </a:prstGeom>
        </p:spPr>
      </p:pic>
      <p:sp>
        <p:nvSpPr>
          <p:cNvPr id="22" name="Text 16"/>
          <p:cNvSpPr/>
          <p:nvPr/>
        </p:nvSpPr>
        <p:spPr>
          <a:xfrm>
            <a:off x="1645920" y="4636008"/>
            <a:ext cx="2377440" cy="713232"/>
          </a:xfrm>
          <a:prstGeom prst="rect">
            <a:avLst/>
          </a:prstGeom>
          <a:noFill/>
          <a:ln/>
        </p:spPr>
        <p:txBody>
          <a:bodyPr wrap="square" rtlCol="0" anchor="ctr"/>
          <a:lstStyle/>
          <a:p>
            <a:pPr indent="0" marL="0">
              <a:buNone/>
            </a:pPr>
            <a:r>
              <a:rPr lang="en-US" sz="1350" b="1" dirty="0">
                <a:solidFill>
                  <a:srgbClr val="123D28"/>
                </a:solidFill>
                <a:latin typeface="Cambria" pitchFamily="34" charset="0"/>
                <a:ea typeface="Cambria" pitchFamily="34" charset="-122"/>
                <a:cs typeface="Cambria" pitchFamily="34" charset="-120"/>
              </a:rPr>
              <a:t>Regulatory liaison</a:t>
            </a:r>
            <a:endParaRPr lang="en-US" sz="1350" dirty="0"/>
          </a:p>
        </p:txBody>
      </p:sp>
      <p:sp>
        <p:nvSpPr>
          <p:cNvPr id="23" name="Text 17"/>
          <p:cNvSpPr/>
          <p:nvPr/>
        </p:nvSpPr>
        <p:spPr>
          <a:xfrm>
            <a:off x="4114800" y="4636008"/>
            <a:ext cx="6858000" cy="713232"/>
          </a:xfrm>
          <a:prstGeom prst="rect">
            <a:avLst/>
          </a:prstGeom>
          <a:noFill/>
          <a:ln/>
        </p:spPr>
        <p:txBody>
          <a:bodyPr wrap="square" rtlCol="0" anchor="ctr"/>
          <a:lstStyle/>
          <a:p>
            <a:pPr indent="0" marL="0">
              <a:lnSpc>
                <a:spcPct val="115000"/>
              </a:lnSpc>
              <a:buNone/>
            </a:pPr>
            <a:r>
              <a:rPr lang="en-US" sz="1150" dirty="0">
                <a:solidFill>
                  <a:srgbClr val="1F2A24"/>
                </a:solidFill>
                <a:latin typeface="Calibri" pitchFamily="34" charset="0"/>
                <a:ea typeface="Calibri" pitchFamily="34" charset="-122"/>
                <a:cs typeface="Calibri" pitchFamily="34" charset="-120"/>
              </a:rPr>
              <a:t>Someone to lead KMPDC and ODPC registration conversations alongside the build.</a:t>
            </a:r>
            <a:endParaRPr lang="en-US" sz="1150" dirty="0"/>
          </a:p>
        </p:txBody>
      </p:sp>
      <p:sp>
        <p:nvSpPr>
          <p:cNvPr id="24" name="Shape 18"/>
          <p:cNvSpPr/>
          <p:nvPr/>
        </p:nvSpPr>
        <p:spPr>
          <a:xfrm>
            <a:off x="548640" y="5532120"/>
            <a:ext cx="10607040" cy="932688"/>
          </a:xfrm>
          <a:prstGeom prst="roundRect">
            <a:avLst>
              <a:gd name="adj" fmla="val 5882"/>
            </a:avLst>
          </a:prstGeom>
          <a:solidFill>
            <a:srgbClr val="FFFFFF"/>
          </a:solidFill>
          <a:ln w="9525">
            <a:solidFill>
              <a:srgbClr val="D6DDD3"/>
            </a:solidFill>
            <a:prstDash val="solid"/>
          </a:ln>
        </p:spPr>
      </p:sp>
      <p:sp>
        <p:nvSpPr>
          <p:cNvPr id="25" name="Shape 19"/>
          <p:cNvSpPr/>
          <p:nvPr/>
        </p:nvSpPr>
        <p:spPr>
          <a:xfrm>
            <a:off x="777240" y="5696712"/>
            <a:ext cx="603504" cy="603504"/>
          </a:xfrm>
          <a:prstGeom prst="ellipse">
            <a:avLst/>
          </a:prstGeom>
          <a:solidFill>
            <a:srgbClr val="123D28"/>
          </a:solidFill>
          <a:ln/>
        </p:spPr>
      </p:sp>
      <p:pic>
        <p:nvPicPr>
          <p:cNvPr id="26" name="Image 4" descr="/home/claude/deck/icons/moneybill.png">    </p:cNvPr>
          <p:cNvPicPr>
            <a:picLocks noChangeAspect="1"/>
          </p:cNvPicPr>
          <p:nvPr/>
        </p:nvPicPr>
        <p:blipFill>
          <a:blip r:embed="rId5"/>
          <a:stretch>
            <a:fillRect/>
          </a:stretch>
        </p:blipFill>
        <p:spPr>
          <a:xfrm>
            <a:off x="914400" y="5833872"/>
            <a:ext cx="329184" cy="329184"/>
          </a:xfrm>
          <a:prstGeom prst="rect">
            <a:avLst/>
          </a:prstGeom>
        </p:spPr>
      </p:pic>
      <p:sp>
        <p:nvSpPr>
          <p:cNvPr id="27" name="Text 20"/>
          <p:cNvSpPr/>
          <p:nvPr/>
        </p:nvSpPr>
        <p:spPr>
          <a:xfrm>
            <a:off x="1645920" y="5641848"/>
            <a:ext cx="2377440" cy="713232"/>
          </a:xfrm>
          <a:prstGeom prst="rect">
            <a:avLst/>
          </a:prstGeom>
          <a:noFill/>
          <a:ln/>
        </p:spPr>
        <p:txBody>
          <a:bodyPr wrap="square" rtlCol="0" anchor="ctr"/>
          <a:lstStyle/>
          <a:p>
            <a:pPr indent="0" marL="0">
              <a:buNone/>
            </a:pPr>
            <a:r>
              <a:rPr lang="en-US" sz="1350" b="1" dirty="0">
                <a:solidFill>
                  <a:srgbClr val="123D28"/>
                </a:solidFill>
                <a:latin typeface="Cambria" pitchFamily="34" charset="0"/>
                <a:ea typeface="Cambria" pitchFamily="34" charset="-122"/>
                <a:cs typeface="Cambria" pitchFamily="34" charset="-120"/>
              </a:rPr>
              <a:t>Pilot budget</a:t>
            </a:r>
            <a:endParaRPr lang="en-US" sz="1350" dirty="0"/>
          </a:p>
        </p:txBody>
      </p:sp>
      <p:sp>
        <p:nvSpPr>
          <p:cNvPr id="28" name="Text 21"/>
          <p:cNvSpPr/>
          <p:nvPr/>
        </p:nvSpPr>
        <p:spPr>
          <a:xfrm>
            <a:off x="4114800" y="5641848"/>
            <a:ext cx="6858000" cy="713232"/>
          </a:xfrm>
          <a:prstGeom prst="rect">
            <a:avLst/>
          </a:prstGeom>
          <a:noFill/>
          <a:ln/>
        </p:spPr>
        <p:txBody>
          <a:bodyPr wrap="square" rtlCol="0" anchor="ctr"/>
          <a:lstStyle/>
          <a:p>
            <a:pPr indent="0" marL="0">
              <a:lnSpc>
                <a:spcPct val="115000"/>
              </a:lnSpc>
              <a:buNone/>
            </a:pPr>
            <a:r>
              <a:rPr lang="en-US" sz="1150" dirty="0">
                <a:solidFill>
                  <a:srgbClr val="1F2A24"/>
                </a:solidFill>
                <a:latin typeface="Calibri" pitchFamily="34" charset="0"/>
                <a:ea typeface="Calibri" pitchFamily="34" charset="-122"/>
                <a:cs typeface="Calibri" pitchFamily="34" charset="-120"/>
              </a:rPr>
              <a:t>Coverage for hosting, SMS, payment gateway fees, and doctor incentives.</a:t>
            </a:r>
            <a:endParaRPr lang="en-US" sz="1150" dirty="0"/>
          </a:p>
        </p:txBody>
      </p:sp>
      <p:sp>
        <p:nvSpPr>
          <p:cNvPr id="29" name="Text 22"/>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30" name="Text 23"/>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What We Need From You</a:t>
            </a:r>
            <a:endParaRPr lang="en-US" sz="900" dirty="0"/>
          </a:p>
        </p:txBody>
      </p:sp>
      <p:sp>
        <p:nvSpPr>
          <p:cNvPr id="31" name="Text 24"/>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FUNDRAISING</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The pilot is the evidence, not just a test</a:t>
            </a:r>
            <a:endParaRPr lang="en-US" sz="3000" dirty="0"/>
          </a:p>
        </p:txBody>
      </p:sp>
      <p:sp>
        <p:nvSpPr>
          <p:cNvPr id="4" name="Text 2"/>
          <p:cNvSpPr/>
          <p:nvPr/>
        </p:nvSpPr>
        <p:spPr>
          <a:xfrm>
            <a:off x="548640" y="1371600"/>
            <a:ext cx="10607040" cy="457200"/>
          </a:xfrm>
          <a:prstGeom prst="rect">
            <a:avLst/>
          </a:prstGeom>
          <a:noFill/>
          <a:ln/>
        </p:spPr>
        <p:txBody>
          <a:bodyPr wrap="square" rtlCol="0" anchor="ctr"/>
          <a:lstStyle/>
          <a:p>
            <a:pPr indent="0" marL="0">
              <a:buNone/>
            </a:pPr>
            <a:r>
              <a:rPr lang="en-US" sz="1300" i="1" dirty="0">
                <a:solidFill>
                  <a:srgbClr val="5B6B62"/>
                </a:solidFill>
                <a:latin typeface="Calibri" pitchFamily="34" charset="0"/>
                <a:ea typeface="Calibri" pitchFamily="34" charset="-122"/>
                <a:cs typeface="Calibri" pitchFamily="34" charset="-120"/>
              </a:rPr>
              <a:t>We track these from day one — this becomes the traction story we bring to investors, not a concept pitch.</a:t>
            </a:r>
            <a:endParaRPr lang="en-US" sz="1300" dirty="0"/>
          </a:p>
        </p:txBody>
      </p:sp>
      <p:sp>
        <p:nvSpPr>
          <p:cNvPr id="5" name="Shape 3"/>
          <p:cNvSpPr/>
          <p:nvPr/>
        </p:nvSpPr>
        <p:spPr>
          <a:xfrm>
            <a:off x="548640" y="205740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6" name="Image 0" descr="/home/claude/deck/icons/chart.png">    </p:cNvPr>
          <p:cNvPicPr>
            <a:picLocks noChangeAspect="1"/>
          </p:cNvPicPr>
          <p:nvPr/>
        </p:nvPicPr>
        <p:blipFill>
          <a:blip r:embed="rId1"/>
          <a:stretch>
            <a:fillRect/>
          </a:stretch>
        </p:blipFill>
        <p:spPr>
          <a:xfrm>
            <a:off x="777240" y="2286000"/>
            <a:ext cx="365760" cy="365760"/>
          </a:xfrm>
          <a:prstGeom prst="rect">
            <a:avLst/>
          </a:prstGeom>
        </p:spPr>
      </p:pic>
      <p:sp>
        <p:nvSpPr>
          <p:cNvPr id="7" name="Text 4"/>
          <p:cNvSpPr/>
          <p:nvPr/>
        </p:nvSpPr>
        <p:spPr>
          <a:xfrm>
            <a:off x="777240" y="277063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Requests per day</a:t>
            </a:r>
            <a:endParaRPr lang="en-US" sz="1300" dirty="0"/>
          </a:p>
        </p:txBody>
      </p:sp>
      <p:sp>
        <p:nvSpPr>
          <p:cNvPr id="8" name="Text 5"/>
          <p:cNvSpPr/>
          <p:nvPr/>
        </p:nvSpPr>
        <p:spPr>
          <a:xfrm>
            <a:off x="777240" y="313639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Split by teleconsult vs. home visit</a:t>
            </a:r>
            <a:endParaRPr lang="en-US" sz="1000" dirty="0"/>
          </a:p>
        </p:txBody>
      </p:sp>
      <p:sp>
        <p:nvSpPr>
          <p:cNvPr id="9" name="Shape 6"/>
          <p:cNvSpPr/>
          <p:nvPr/>
        </p:nvSpPr>
        <p:spPr>
          <a:xfrm>
            <a:off x="4175760" y="205740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10" name="Image 1" descr="/home/claude/deck/icons/clock_a.png">    </p:cNvPr>
          <p:cNvPicPr>
            <a:picLocks noChangeAspect="1"/>
          </p:cNvPicPr>
          <p:nvPr/>
        </p:nvPicPr>
        <p:blipFill>
          <a:blip r:embed="rId2"/>
          <a:stretch>
            <a:fillRect/>
          </a:stretch>
        </p:blipFill>
        <p:spPr>
          <a:xfrm>
            <a:off x="4404360" y="2286000"/>
            <a:ext cx="365760" cy="365760"/>
          </a:xfrm>
          <a:prstGeom prst="rect">
            <a:avLst/>
          </a:prstGeom>
        </p:spPr>
      </p:pic>
      <p:sp>
        <p:nvSpPr>
          <p:cNvPr id="11" name="Text 7"/>
          <p:cNvSpPr/>
          <p:nvPr/>
        </p:nvSpPr>
        <p:spPr>
          <a:xfrm>
            <a:off x="4404360" y="277063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Time to connect</a:t>
            </a:r>
            <a:endParaRPr lang="en-US" sz="1300" dirty="0"/>
          </a:p>
        </p:txBody>
      </p:sp>
      <p:sp>
        <p:nvSpPr>
          <p:cNvPr id="12" name="Text 8"/>
          <p:cNvSpPr/>
          <p:nvPr/>
        </p:nvSpPr>
        <p:spPr>
          <a:xfrm>
            <a:off x="4404360" y="313639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How quickly patients reach a doctor</a:t>
            </a:r>
            <a:endParaRPr lang="en-US" sz="1000" dirty="0"/>
          </a:p>
        </p:txBody>
      </p:sp>
      <p:sp>
        <p:nvSpPr>
          <p:cNvPr id="13" name="Shape 9"/>
          <p:cNvSpPr/>
          <p:nvPr/>
        </p:nvSpPr>
        <p:spPr>
          <a:xfrm>
            <a:off x="7802880" y="205740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14" name="Image 2" descr="/home/claude/deck/icons/check.png">    </p:cNvPr>
          <p:cNvPicPr>
            <a:picLocks noChangeAspect="1"/>
          </p:cNvPicPr>
          <p:nvPr/>
        </p:nvPicPr>
        <p:blipFill>
          <a:blip r:embed="rId3"/>
          <a:stretch>
            <a:fillRect/>
          </a:stretch>
        </p:blipFill>
        <p:spPr>
          <a:xfrm>
            <a:off x="8031480" y="2286000"/>
            <a:ext cx="365760" cy="365760"/>
          </a:xfrm>
          <a:prstGeom prst="rect">
            <a:avLst/>
          </a:prstGeom>
        </p:spPr>
      </p:pic>
      <p:sp>
        <p:nvSpPr>
          <p:cNvPr id="15" name="Text 10"/>
          <p:cNvSpPr/>
          <p:nvPr/>
        </p:nvSpPr>
        <p:spPr>
          <a:xfrm>
            <a:off x="8031480" y="277063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Completion rate</a:t>
            </a:r>
            <a:endParaRPr lang="en-US" sz="1300" dirty="0"/>
          </a:p>
        </p:txBody>
      </p:sp>
      <p:sp>
        <p:nvSpPr>
          <p:cNvPr id="16" name="Text 11"/>
          <p:cNvSpPr/>
          <p:nvPr/>
        </p:nvSpPr>
        <p:spPr>
          <a:xfrm>
            <a:off x="8031480" y="313639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Requests that become paid consultations</a:t>
            </a:r>
            <a:endParaRPr lang="en-US" sz="1000" dirty="0"/>
          </a:p>
        </p:txBody>
      </p:sp>
      <p:sp>
        <p:nvSpPr>
          <p:cNvPr id="17" name="Shape 12"/>
          <p:cNvSpPr/>
          <p:nvPr/>
        </p:nvSpPr>
        <p:spPr>
          <a:xfrm>
            <a:off x="548640" y="406908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18" name="Image 3" descr="/home/claude/deck/icons/users.png">    </p:cNvPr>
          <p:cNvPicPr>
            <a:picLocks noChangeAspect="1"/>
          </p:cNvPicPr>
          <p:nvPr/>
        </p:nvPicPr>
        <p:blipFill>
          <a:blip r:embed="rId4"/>
          <a:stretch>
            <a:fillRect/>
          </a:stretch>
        </p:blipFill>
        <p:spPr>
          <a:xfrm>
            <a:off x="777240" y="4297680"/>
            <a:ext cx="365760" cy="365760"/>
          </a:xfrm>
          <a:prstGeom prst="rect">
            <a:avLst/>
          </a:prstGeom>
        </p:spPr>
      </p:pic>
      <p:sp>
        <p:nvSpPr>
          <p:cNvPr id="19" name="Text 13"/>
          <p:cNvSpPr/>
          <p:nvPr/>
        </p:nvSpPr>
        <p:spPr>
          <a:xfrm>
            <a:off x="777240" y="478231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Repeat usage</a:t>
            </a:r>
            <a:endParaRPr lang="en-US" sz="1300" dirty="0"/>
          </a:p>
        </p:txBody>
      </p:sp>
      <p:sp>
        <p:nvSpPr>
          <p:cNvPr id="20" name="Text 14"/>
          <p:cNvSpPr/>
          <p:nvPr/>
        </p:nvSpPr>
        <p:spPr>
          <a:xfrm>
            <a:off x="777240" y="514807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7-day and 30-day return rate</a:t>
            </a:r>
            <a:endParaRPr lang="en-US" sz="1000" dirty="0"/>
          </a:p>
        </p:txBody>
      </p:sp>
      <p:sp>
        <p:nvSpPr>
          <p:cNvPr id="21" name="Shape 15"/>
          <p:cNvSpPr/>
          <p:nvPr/>
        </p:nvSpPr>
        <p:spPr>
          <a:xfrm>
            <a:off x="4175760" y="406908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22" name="Image 4" descr="/home/claude/deck/icons/usermd.png">    </p:cNvPr>
          <p:cNvPicPr>
            <a:picLocks noChangeAspect="1"/>
          </p:cNvPicPr>
          <p:nvPr/>
        </p:nvPicPr>
        <p:blipFill>
          <a:blip r:embed="rId5"/>
          <a:stretch>
            <a:fillRect/>
          </a:stretch>
        </p:blipFill>
        <p:spPr>
          <a:xfrm>
            <a:off x="4404360" y="4297680"/>
            <a:ext cx="365760" cy="365760"/>
          </a:xfrm>
          <a:prstGeom prst="rect">
            <a:avLst/>
          </a:prstGeom>
        </p:spPr>
      </p:pic>
      <p:sp>
        <p:nvSpPr>
          <p:cNvPr id="23" name="Text 16"/>
          <p:cNvSpPr/>
          <p:nvPr/>
        </p:nvSpPr>
        <p:spPr>
          <a:xfrm>
            <a:off x="4404360" y="478231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Doctor acceptance</a:t>
            </a:r>
            <a:endParaRPr lang="en-US" sz="1300" dirty="0"/>
          </a:p>
        </p:txBody>
      </p:sp>
      <p:sp>
        <p:nvSpPr>
          <p:cNvPr id="24" name="Text 17"/>
          <p:cNvSpPr/>
          <p:nvPr/>
        </p:nvSpPr>
        <p:spPr>
          <a:xfrm>
            <a:off x="4404360" y="514807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Roster size and response reliability</a:t>
            </a:r>
            <a:endParaRPr lang="en-US" sz="1000" dirty="0"/>
          </a:p>
        </p:txBody>
      </p:sp>
      <p:sp>
        <p:nvSpPr>
          <p:cNvPr id="25" name="Shape 18"/>
          <p:cNvSpPr/>
          <p:nvPr/>
        </p:nvSpPr>
        <p:spPr>
          <a:xfrm>
            <a:off x="7802880" y="4069080"/>
            <a:ext cx="3352800" cy="1737360"/>
          </a:xfrm>
          <a:prstGeom prst="roundRect">
            <a:avLst>
              <a:gd name="adj" fmla="val 4211"/>
            </a:avLst>
          </a:prstGeom>
          <a:solidFill>
            <a:srgbClr val="FFFFFF"/>
          </a:solidFill>
          <a:ln w="12700">
            <a:solidFill>
              <a:srgbClr val="D6DDD3"/>
            </a:solidFill>
            <a:prstDash val="solid"/>
          </a:ln>
          <a:effectLst>
            <a:outerShdw sx="100000" sy="100000" kx="0" ky="0" algn="bl" rotWithShape="0" blurRad="50800" dist="25400" dir="5400000">
              <a:srgbClr val="000000">
                <a:alpha val="9000"/>
              </a:srgbClr>
            </a:outerShdw>
          </a:effectLst>
        </p:spPr>
      </p:sp>
      <p:pic>
        <p:nvPicPr>
          <p:cNvPr id="26" name="Image 5" descr="/home/claude/deck/icons/moneybill_a.png">    </p:cNvPr>
          <p:cNvPicPr>
            <a:picLocks noChangeAspect="1"/>
          </p:cNvPicPr>
          <p:nvPr/>
        </p:nvPicPr>
        <p:blipFill>
          <a:blip r:embed="rId6"/>
          <a:stretch>
            <a:fillRect/>
          </a:stretch>
        </p:blipFill>
        <p:spPr>
          <a:xfrm>
            <a:off x="8031480" y="4297680"/>
            <a:ext cx="365760" cy="365760"/>
          </a:xfrm>
          <a:prstGeom prst="rect">
            <a:avLst/>
          </a:prstGeom>
        </p:spPr>
      </p:pic>
      <p:sp>
        <p:nvSpPr>
          <p:cNvPr id="27" name="Text 19"/>
          <p:cNvSpPr/>
          <p:nvPr/>
        </p:nvSpPr>
        <p:spPr>
          <a:xfrm>
            <a:off x="8031480" y="4782312"/>
            <a:ext cx="2895600" cy="365760"/>
          </a:xfrm>
          <a:prstGeom prst="rect">
            <a:avLst/>
          </a:prstGeom>
          <a:noFill/>
          <a:ln/>
        </p:spPr>
        <p:txBody>
          <a:bodyPr wrap="square" rtlCol="0" anchor="ctr"/>
          <a:lstStyle/>
          <a:p>
            <a:pPr indent="0" marL="0">
              <a:buNone/>
            </a:pPr>
            <a:r>
              <a:rPr lang="en-US" sz="1300" b="1" dirty="0">
                <a:solidFill>
                  <a:srgbClr val="123D28"/>
                </a:solidFill>
                <a:latin typeface="Cambria" pitchFamily="34" charset="0"/>
                <a:ea typeface="Cambria" pitchFamily="34" charset="-122"/>
                <a:cs typeface="Cambria" pitchFamily="34" charset="-120"/>
              </a:rPr>
              <a:t>Transaction value</a:t>
            </a:r>
            <a:endParaRPr lang="en-US" sz="1300" dirty="0"/>
          </a:p>
        </p:txBody>
      </p:sp>
      <p:sp>
        <p:nvSpPr>
          <p:cNvPr id="28" name="Text 20"/>
          <p:cNvSpPr/>
          <p:nvPr/>
        </p:nvSpPr>
        <p:spPr>
          <a:xfrm>
            <a:off x="8031480" y="5148072"/>
            <a:ext cx="2895600" cy="594360"/>
          </a:xfrm>
          <a:prstGeom prst="rect">
            <a:avLst/>
          </a:prstGeom>
          <a:noFill/>
          <a:ln/>
        </p:spPr>
        <p:txBody>
          <a:bodyPr wrap="square" rtlCol="0" anchor="ctr"/>
          <a:lstStyle/>
          <a:p>
            <a:pPr indent="0" marL="0">
              <a:lnSpc>
                <a:spcPct val="115000"/>
              </a:lnSpc>
              <a:buNone/>
            </a:pPr>
            <a:r>
              <a:rPr lang="en-US" sz="1000" dirty="0">
                <a:solidFill>
                  <a:srgbClr val="5B6B62"/>
                </a:solidFill>
                <a:latin typeface="Calibri" pitchFamily="34" charset="0"/>
                <a:ea typeface="Calibri" pitchFamily="34" charset="-122"/>
                <a:cs typeface="Calibri" pitchFamily="34" charset="-120"/>
              </a:rPr>
              <a:t>Gross value and platform take-rate revenue</a:t>
            </a:r>
            <a:endParaRPr lang="en-US" sz="1000" dirty="0"/>
          </a:p>
        </p:txBody>
      </p:sp>
      <p:sp>
        <p:nvSpPr>
          <p:cNvPr id="29" name="Text 21"/>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30" name="Text 22"/>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Path to Funding</a:t>
            </a:r>
            <a:endParaRPr lang="en-US" sz="900" dirty="0"/>
          </a:p>
        </p:txBody>
      </p:sp>
      <p:sp>
        <p:nvSpPr>
          <p:cNvPr id="31" name="Text 23"/>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TIMELINE</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23D28"/>
                </a:solidFill>
                <a:latin typeface="Cambria" pitchFamily="34" charset="0"/>
                <a:ea typeface="Cambria" pitchFamily="34" charset="-122"/>
                <a:cs typeface="Cambria" pitchFamily="34" charset="-120"/>
              </a:rPr>
              <a:t>Indicative timeline</a:t>
            </a:r>
            <a:endParaRPr lang="en-US" sz="3000" dirty="0"/>
          </a:p>
        </p:txBody>
      </p:sp>
      <p:sp>
        <p:nvSpPr>
          <p:cNvPr id="4" name="Shape 2"/>
          <p:cNvSpPr/>
          <p:nvPr/>
        </p:nvSpPr>
        <p:spPr>
          <a:xfrm>
            <a:off x="3291840" y="1554480"/>
            <a:ext cx="0" cy="4297680"/>
          </a:xfrm>
          <a:prstGeom prst="line">
            <a:avLst/>
          </a:prstGeom>
          <a:noFill/>
          <a:ln w="9525">
            <a:solidFill>
              <a:srgbClr val="D6DDD3"/>
            </a:solidFill>
            <a:prstDash val="solid"/>
          </a:ln>
        </p:spPr>
      </p:sp>
      <p:sp>
        <p:nvSpPr>
          <p:cNvPr id="5" name="Text 3"/>
          <p:cNvSpPr/>
          <p:nvPr/>
        </p:nvSpPr>
        <p:spPr>
          <a:xfrm>
            <a:off x="3017520"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W0</a:t>
            </a:r>
            <a:endParaRPr lang="en-US" sz="850" dirty="0"/>
          </a:p>
        </p:txBody>
      </p:sp>
      <p:sp>
        <p:nvSpPr>
          <p:cNvPr id="6" name="Shape 4"/>
          <p:cNvSpPr/>
          <p:nvPr/>
        </p:nvSpPr>
        <p:spPr>
          <a:xfrm>
            <a:off x="4078224" y="1554480"/>
            <a:ext cx="0" cy="4297680"/>
          </a:xfrm>
          <a:prstGeom prst="line">
            <a:avLst/>
          </a:prstGeom>
          <a:noFill/>
          <a:ln w="9525">
            <a:solidFill>
              <a:srgbClr val="D6DDD3"/>
            </a:solidFill>
            <a:prstDash val="solid"/>
          </a:ln>
        </p:spPr>
      </p:sp>
      <p:sp>
        <p:nvSpPr>
          <p:cNvPr id="7" name="Text 5"/>
          <p:cNvSpPr/>
          <p:nvPr/>
        </p:nvSpPr>
        <p:spPr>
          <a:xfrm>
            <a:off x="3803904"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W4</a:t>
            </a:r>
            <a:endParaRPr lang="en-US" sz="850" dirty="0"/>
          </a:p>
        </p:txBody>
      </p:sp>
      <p:sp>
        <p:nvSpPr>
          <p:cNvPr id="8" name="Shape 6"/>
          <p:cNvSpPr/>
          <p:nvPr/>
        </p:nvSpPr>
        <p:spPr>
          <a:xfrm>
            <a:off x="4864608" y="1554480"/>
            <a:ext cx="0" cy="4297680"/>
          </a:xfrm>
          <a:prstGeom prst="line">
            <a:avLst/>
          </a:prstGeom>
          <a:noFill/>
          <a:ln w="9525">
            <a:solidFill>
              <a:srgbClr val="D6DDD3"/>
            </a:solidFill>
            <a:prstDash val="solid"/>
          </a:ln>
        </p:spPr>
      </p:sp>
      <p:sp>
        <p:nvSpPr>
          <p:cNvPr id="9" name="Text 7"/>
          <p:cNvSpPr/>
          <p:nvPr/>
        </p:nvSpPr>
        <p:spPr>
          <a:xfrm>
            <a:off x="4590288"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W8</a:t>
            </a:r>
            <a:endParaRPr lang="en-US" sz="850" dirty="0"/>
          </a:p>
        </p:txBody>
      </p:sp>
      <p:sp>
        <p:nvSpPr>
          <p:cNvPr id="10" name="Shape 8"/>
          <p:cNvSpPr/>
          <p:nvPr/>
        </p:nvSpPr>
        <p:spPr>
          <a:xfrm>
            <a:off x="5650992" y="1554480"/>
            <a:ext cx="0" cy="4297680"/>
          </a:xfrm>
          <a:prstGeom prst="line">
            <a:avLst/>
          </a:prstGeom>
          <a:noFill/>
          <a:ln w="9525">
            <a:solidFill>
              <a:srgbClr val="D6DDD3"/>
            </a:solidFill>
            <a:prstDash val="solid"/>
          </a:ln>
        </p:spPr>
      </p:sp>
      <p:sp>
        <p:nvSpPr>
          <p:cNvPr id="11" name="Text 9"/>
          <p:cNvSpPr/>
          <p:nvPr/>
        </p:nvSpPr>
        <p:spPr>
          <a:xfrm>
            <a:off x="5376672"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W12</a:t>
            </a:r>
            <a:endParaRPr lang="en-US" sz="850" dirty="0"/>
          </a:p>
        </p:txBody>
      </p:sp>
      <p:sp>
        <p:nvSpPr>
          <p:cNvPr id="12" name="Shape 10"/>
          <p:cNvSpPr/>
          <p:nvPr/>
        </p:nvSpPr>
        <p:spPr>
          <a:xfrm>
            <a:off x="6437376" y="1554480"/>
            <a:ext cx="0" cy="4297680"/>
          </a:xfrm>
          <a:prstGeom prst="line">
            <a:avLst/>
          </a:prstGeom>
          <a:noFill/>
          <a:ln w="9525">
            <a:solidFill>
              <a:srgbClr val="D6DDD3"/>
            </a:solidFill>
            <a:prstDash val="solid"/>
          </a:ln>
        </p:spPr>
      </p:sp>
      <p:sp>
        <p:nvSpPr>
          <p:cNvPr id="13" name="Text 11"/>
          <p:cNvSpPr/>
          <p:nvPr/>
        </p:nvSpPr>
        <p:spPr>
          <a:xfrm>
            <a:off x="6163056"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W16</a:t>
            </a:r>
            <a:endParaRPr lang="en-US" sz="850" dirty="0"/>
          </a:p>
        </p:txBody>
      </p:sp>
      <p:sp>
        <p:nvSpPr>
          <p:cNvPr id="14" name="Shape 12"/>
          <p:cNvSpPr/>
          <p:nvPr/>
        </p:nvSpPr>
        <p:spPr>
          <a:xfrm>
            <a:off x="7223760" y="1554480"/>
            <a:ext cx="0" cy="4297680"/>
          </a:xfrm>
          <a:prstGeom prst="line">
            <a:avLst/>
          </a:prstGeom>
          <a:noFill/>
          <a:ln w="9525">
            <a:solidFill>
              <a:srgbClr val="D6DDD3"/>
            </a:solidFill>
            <a:prstDash val="solid"/>
          </a:ln>
        </p:spPr>
      </p:sp>
      <p:sp>
        <p:nvSpPr>
          <p:cNvPr id="15" name="Text 13"/>
          <p:cNvSpPr/>
          <p:nvPr/>
        </p:nvSpPr>
        <p:spPr>
          <a:xfrm>
            <a:off x="6949440"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W20</a:t>
            </a:r>
            <a:endParaRPr lang="en-US" sz="850" dirty="0"/>
          </a:p>
        </p:txBody>
      </p:sp>
      <p:sp>
        <p:nvSpPr>
          <p:cNvPr id="16" name="Shape 14"/>
          <p:cNvSpPr/>
          <p:nvPr/>
        </p:nvSpPr>
        <p:spPr>
          <a:xfrm>
            <a:off x="8010144" y="1554480"/>
            <a:ext cx="0" cy="4297680"/>
          </a:xfrm>
          <a:prstGeom prst="line">
            <a:avLst/>
          </a:prstGeom>
          <a:noFill/>
          <a:ln w="9525">
            <a:solidFill>
              <a:srgbClr val="D6DDD3"/>
            </a:solidFill>
            <a:prstDash val="solid"/>
          </a:ln>
        </p:spPr>
      </p:sp>
      <p:sp>
        <p:nvSpPr>
          <p:cNvPr id="17" name="Text 15"/>
          <p:cNvSpPr/>
          <p:nvPr/>
        </p:nvSpPr>
        <p:spPr>
          <a:xfrm>
            <a:off x="7735824"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W24</a:t>
            </a:r>
            <a:endParaRPr lang="en-US" sz="850" dirty="0"/>
          </a:p>
        </p:txBody>
      </p:sp>
      <p:sp>
        <p:nvSpPr>
          <p:cNvPr id="18" name="Shape 16"/>
          <p:cNvSpPr/>
          <p:nvPr/>
        </p:nvSpPr>
        <p:spPr>
          <a:xfrm>
            <a:off x="8796528" y="1554480"/>
            <a:ext cx="0" cy="4297680"/>
          </a:xfrm>
          <a:prstGeom prst="line">
            <a:avLst/>
          </a:prstGeom>
          <a:noFill/>
          <a:ln w="9525">
            <a:solidFill>
              <a:srgbClr val="D6DDD3"/>
            </a:solidFill>
            <a:prstDash val="solid"/>
          </a:ln>
        </p:spPr>
      </p:sp>
      <p:sp>
        <p:nvSpPr>
          <p:cNvPr id="19" name="Text 17"/>
          <p:cNvSpPr/>
          <p:nvPr/>
        </p:nvSpPr>
        <p:spPr>
          <a:xfrm>
            <a:off x="8522208"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W28</a:t>
            </a:r>
            <a:endParaRPr lang="en-US" sz="850" dirty="0"/>
          </a:p>
        </p:txBody>
      </p:sp>
      <p:sp>
        <p:nvSpPr>
          <p:cNvPr id="20" name="Shape 18"/>
          <p:cNvSpPr/>
          <p:nvPr/>
        </p:nvSpPr>
        <p:spPr>
          <a:xfrm>
            <a:off x="9582912" y="1554480"/>
            <a:ext cx="0" cy="4297680"/>
          </a:xfrm>
          <a:prstGeom prst="line">
            <a:avLst/>
          </a:prstGeom>
          <a:noFill/>
          <a:ln w="9525">
            <a:solidFill>
              <a:srgbClr val="D6DDD3"/>
            </a:solidFill>
            <a:prstDash val="solid"/>
          </a:ln>
        </p:spPr>
      </p:sp>
      <p:sp>
        <p:nvSpPr>
          <p:cNvPr id="21" name="Text 19"/>
          <p:cNvSpPr/>
          <p:nvPr/>
        </p:nvSpPr>
        <p:spPr>
          <a:xfrm>
            <a:off x="9308592"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W32</a:t>
            </a:r>
            <a:endParaRPr lang="en-US" sz="850" dirty="0"/>
          </a:p>
        </p:txBody>
      </p:sp>
      <p:sp>
        <p:nvSpPr>
          <p:cNvPr id="22" name="Shape 20"/>
          <p:cNvSpPr/>
          <p:nvPr/>
        </p:nvSpPr>
        <p:spPr>
          <a:xfrm>
            <a:off x="10369296" y="1554480"/>
            <a:ext cx="0" cy="4297680"/>
          </a:xfrm>
          <a:prstGeom prst="line">
            <a:avLst/>
          </a:prstGeom>
          <a:noFill/>
          <a:ln w="9525">
            <a:solidFill>
              <a:srgbClr val="D6DDD3"/>
            </a:solidFill>
            <a:prstDash val="solid"/>
          </a:ln>
        </p:spPr>
      </p:sp>
      <p:sp>
        <p:nvSpPr>
          <p:cNvPr id="23" name="Text 21"/>
          <p:cNvSpPr/>
          <p:nvPr/>
        </p:nvSpPr>
        <p:spPr>
          <a:xfrm>
            <a:off x="10094976"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W36</a:t>
            </a:r>
            <a:endParaRPr lang="en-US" sz="850" dirty="0"/>
          </a:p>
        </p:txBody>
      </p:sp>
      <p:sp>
        <p:nvSpPr>
          <p:cNvPr id="24" name="Shape 22"/>
          <p:cNvSpPr/>
          <p:nvPr/>
        </p:nvSpPr>
        <p:spPr>
          <a:xfrm>
            <a:off x="11155680" y="1554480"/>
            <a:ext cx="0" cy="4297680"/>
          </a:xfrm>
          <a:prstGeom prst="line">
            <a:avLst/>
          </a:prstGeom>
          <a:noFill/>
          <a:ln w="9525">
            <a:solidFill>
              <a:srgbClr val="D6DDD3"/>
            </a:solidFill>
            <a:prstDash val="solid"/>
          </a:ln>
        </p:spPr>
      </p:sp>
      <p:sp>
        <p:nvSpPr>
          <p:cNvPr id="25" name="Text 23"/>
          <p:cNvSpPr/>
          <p:nvPr/>
        </p:nvSpPr>
        <p:spPr>
          <a:xfrm>
            <a:off x="10881360" y="1307592"/>
            <a:ext cx="548640" cy="228600"/>
          </a:xfrm>
          <a:prstGeom prst="rect">
            <a:avLst/>
          </a:prstGeom>
          <a:noFill/>
          <a:ln/>
        </p:spPr>
        <p:txBody>
          <a:bodyPr wrap="square" rtlCol="0" anchor="ctr"/>
          <a:lstStyle/>
          <a:p>
            <a:pPr algn="ctr" indent="0" marL="0">
              <a:buNone/>
            </a:pPr>
            <a:r>
              <a:rPr lang="en-US" sz="850" dirty="0">
                <a:solidFill>
                  <a:srgbClr val="5B6B62"/>
                </a:solidFill>
                <a:latin typeface="Calibri" pitchFamily="34" charset="0"/>
                <a:ea typeface="Calibri" pitchFamily="34" charset="-122"/>
                <a:cs typeface="Calibri" pitchFamily="34" charset="-120"/>
              </a:rPr>
              <a:t>W40</a:t>
            </a:r>
            <a:endParaRPr lang="en-US" sz="850" dirty="0"/>
          </a:p>
        </p:txBody>
      </p:sp>
      <p:sp>
        <p:nvSpPr>
          <p:cNvPr id="26" name="Text 24"/>
          <p:cNvSpPr/>
          <p:nvPr/>
        </p:nvSpPr>
        <p:spPr>
          <a:xfrm>
            <a:off x="548640" y="1691640"/>
            <a:ext cx="2606040" cy="685800"/>
          </a:xfrm>
          <a:prstGeom prst="rect">
            <a:avLst/>
          </a:prstGeom>
          <a:noFill/>
          <a:ln/>
        </p:spPr>
        <p:txBody>
          <a:bodyPr wrap="square"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Discovery &amp; compliance setup</a:t>
            </a:r>
            <a:endParaRPr lang="en-US" sz="1100" dirty="0"/>
          </a:p>
        </p:txBody>
      </p:sp>
      <p:sp>
        <p:nvSpPr>
          <p:cNvPr id="27" name="Shape 25"/>
          <p:cNvSpPr/>
          <p:nvPr/>
        </p:nvSpPr>
        <p:spPr>
          <a:xfrm>
            <a:off x="3291840" y="1819656"/>
            <a:ext cx="393192" cy="429768"/>
          </a:xfrm>
          <a:prstGeom prst="roundRect">
            <a:avLst>
              <a:gd name="adj" fmla="val 11628"/>
            </a:avLst>
          </a:prstGeom>
          <a:solidFill>
            <a:srgbClr val="123D28"/>
          </a:solidFill>
          <a:ln/>
        </p:spPr>
      </p:sp>
      <p:sp>
        <p:nvSpPr>
          <p:cNvPr id="28" name="Text 26"/>
          <p:cNvSpPr/>
          <p:nvPr/>
        </p:nvSpPr>
        <p:spPr>
          <a:xfrm>
            <a:off x="3291840" y="1819656"/>
            <a:ext cx="393192" cy="4297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wks</a:t>
            </a:r>
            <a:endParaRPr lang="en-US" sz="950" dirty="0"/>
          </a:p>
        </p:txBody>
      </p:sp>
      <p:sp>
        <p:nvSpPr>
          <p:cNvPr id="29" name="Text 27"/>
          <p:cNvSpPr/>
          <p:nvPr/>
        </p:nvSpPr>
        <p:spPr>
          <a:xfrm>
            <a:off x="548640" y="2514600"/>
            <a:ext cx="2606040" cy="685800"/>
          </a:xfrm>
          <a:prstGeom prst="rect">
            <a:avLst/>
          </a:prstGeom>
          <a:noFill/>
          <a:ln/>
        </p:spPr>
        <p:txBody>
          <a:bodyPr wrap="square"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Web MVP build</a:t>
            </a:r>
            <a:endParaRPr lang="en-US" sz="1100" dirty="0"/>
          </a:p>
        </p:txBody>
      </p:sp>
      <p:sp>
        <p:nvSpPr>
          <p:cNvPr id="30" name="Shape 28"/>
          <p:cNvSpPr/>
          <p:nvPr/>
        </p:nvSpPr>
        <p:spPr>
          <a:xfrm>
            <a:off x="3685032" y="2642616"/>
            <a:ext cx="1965960" cy="429768"/>
          </a:xfrm>
          <a:prstGeom prst="roundRect">
            <a:avLst>
              <a:gd name="adj" fmla="val 10638"/>
            </a:avLst>
          </a:prstGeom>
          <a:solidFill>
            <a:srgbClr val="2E7D5B"/>
          </a:solidFill>
          <a:ln/>
        </p:spPr>
      </p:sp>
      <p:sp>
        <p:nvSpPr>
          <p:cNvPr id="31" name="Text 29"/>
          <p:cNvSpPr/>
          <p:nvPr/>
        </p:nvSpPr>
        <p:spPr>
          <a:xfrm>
            <a:off x="3685032" y="2642616"/>
            <a:ext cx="1965960" cy="4297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 wks</a:t>
            </a:r>
            <a:endParaRPr lang="en-US" sz="950" dirty="0"/>
          </a:p>
        </p:txBody>
      </p:sp>
      <p:sp>
        <p:nvSpPr>
          <p:cNvPr id="32" name="Text 30"/>
          <p:cNvSpPr/>
          <p:nvPr/>
        </p:nvSpPr>
        <p:spPr>
          <a:xfrm>
            <a:off x="548640" y="3337560"/>
            <a:ext cx="2606040" cy="685800"/>
          </a:xfrm>
          <a:prstGeom prst="rect">
            <a:avLst/>
          </a:prstGeom>
          <a:noFill/>
          <a:ln/>
        </p:spPr>
        <p:txBody>
          <a:bodyPr wrap="square"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Live pilot</a:t>
            </a:r>
            <a:endParaRPr lang="en-US" sz="1100" dirty="0"/>
          </a:p>
        </p:txBody>
      </p:sp>
      <p:sp>
        <p:nvSpPr>
          <p:cNvPr id="33" name="Shape 31"/>
          <p:cNvSpPr/>
          <p:nvPr/>
        </p:nvSpPr>
        <p:spPr>
          <a:xfrm>
            <a:off x="5650992" y="3465576"/>
            <a:ext cx="2359152" cy="429768"/>
          </a:xfrm>
          <a:prstGeom prst="roundRect">
            <a:avLst>
              <a:gd name="adj" fmla="val 10638"/>
            </a:avLst>
          </a:prstGeom>
          <a:solidFill>
            <a:srgbClr val="E08C3E"/>
          </a:solidFill>
          <a:ln/>
        </p:spPr>
      </p:sp>
      <p:sp>
        <p:nvSpPr>
          <p:cNvPr id="34" name="Text 32"/>
          <p:cNvSpPr/>
          <p:nvPr/>
        </p:nvSpPr>
        <p:spPr>
          <a:xfrm>
            <a:off x="5650992" y="3465576"/>
            <a:ext cx="2359152" cy="4297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 wks</a:t>
            </a:r>
            <a:endParaRPr lang="en-US" sz="950" dirty="0"/>
          </a:p>
        </p:txBody>
      </p:sp>
      <p:sp>
        <p:nvSpPr>
          <p:cNvPr id="35" name="Text 33"/>
          <p:cNvSpPr/>
          <p:nvPr/>
        </p:nvSpPr>
        <p:spPr>
          <a:xfrm>
            <a:off x="548640" y="4160520"/>
            <a:ext cx="2606040" cy="685800"/>
          </a:xfrm>
          <a:prstGeom prst="rect">
            <a:avLst/>
          </a:prstGeom>
          <a:noFill/>
          <a:ln/>
        </p:spPr>
        <p:txBody>
          <a:bodyPr wrap="square"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Fundraising prep &amp; raise</a:t>
            </a:r>
            <a:endParaRPr lang="en-US" sz="1100" dirty="0"/>
          </a:p>
        </p:txBody>
      </p:sp>
      <p:sp>
        <p:nvSpPr>
          <p:cNvPr id="36" name="Shape 34"/>
          <p:cNvSpPr/>
          <p:nvPr/>
        </p:nvSpPr>
        <p:spPr>
          <a:xfrm>
            <a:off x="6437376" y="4288536"/>
            <a:ext cx="1965960" cy="429768"/>
          </a:xfrm>
          <a:prstGeom prst="roundRect">
            <a:avLst>
              <a:gd name="adj" fmla="val 10638"/>
            </a:avLst>
          </a:prstGeom>
          <a:solidFill>
            <a:srgbClr val="6FA98A"/>
          </a:solidFill>
          <a:ln/>
        </p:spPr>
      </p:sp>
      <p:sp>
        <p:nvSpPr>
          <p:cNvPr id="37" name="Text 35"/>
          <p:cNvSpPr/>
          <p:nvPr/>
        </p:nvSpPr>
        <p:spPr>
          <a:xfrm>
            <a:off x="6437376" y="4288536"/>
            <a:ext cx="1965960" cy="4297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 wks</a:t>
            </a:r>
            <a:endParaRPr lang="en-US" sz="950" dirty="0"/>
          </a:p>
        </p:txBody>
      </p:sp>
      <p:sp>
        <p:nvSpPr>
          <p:cNvPr id="38" name="Text 36"/>
          <p:cNvSpPr/>
          <p:nvPr/>
        </p:nvSpPr>
        <p:spPr>
          <a:xfrm>
            <a:off x="548640" y="4983480"/>
            <a:ext cx="2606040" cy="685800"/>
          </a:xfrm>
          <a:prstGeom prst="rect">
            <a:avLst/>
          </a:prstGeom>
          <a:noFill/>
          <a:ln/>
        </p:spPr>
        <p:txBody>
          <a:bodyPr wrap="square"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Native app build (post-raise)</a:t>
            </a:r>
            <a:endParaRPr lang="en-US" sz="1100" dirty="0"/>
          </a:p>
        </p:txBody>
      </p:sp>
      <p:sp>
        <p:nvSpPr>
          <p:cNvPr id="39" name="Shape 37"/>
          <p:cNvSpPr/>
          <p:nvPr/>
        </p:nvSpPr>
        <p:spPr>
          <a:xfrm>
            <a:off x="8403336" y="5111496"/>
            <a:ext cx="2752344" cy="429768"/>
          </a:xfrm>
          <a:prstGeom prst="roundRect">
            <a:avLst>
              <a:gd name="adj" fmla="val 10638"/>
            </a:avLst>
          </a:prstGeom>
          <a:solidFill>
            <a:srgbClr val="123D28"/>
          </a:solidFill>
          <a:ln/>
        </p:spPr>
      </p:sp>
      <p:sp>
        <p:nvSpPr>
          <p:cNvPr id="40" name="Text 38"/>
          <p:cNvSpPr/>
          <p:nvPr/>
        </p:nvSpPr>
        <p:spPr>
          <a:xfrm>
            <a:off x="8403336" y="5111496"/>
            <a:ext cx="2752344" cy="4297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 wks</a:t>
            </a:r>
            <a:endParaRPr lang="en-US" sz="950" dirty="0"/>
          </a:p>
        </p:txBody>
      </p:sp>
      <p:sp>
        <p:nvSpPr>
          <p:cNvPr id="41" name="Text 39"/>
          <p:cNvSpPr/>
          <p:nvPr/>
        </p:nvSpPr>
        <p:spPr>
          <a:xfrm>
            <a:off x="548640" y="6126480"/>
            <a:ext cx="10607040" cy="457200"/>
          </a:xfrm>
          <a:prstGeom prst="rect">
            <a:avLst/>
          </a:prstGeom>
          <a:noFill/>
          <a:ln/>
        </p:spPr>
        <p:txBody>
          <a:bodyPr wrap="square" rtlCol="0" anchor="ctr"/>
          <a:lstStyle/>
          <a:p>
            <a:pPr indent="0" marL="0">
              <a:buNone/>
            </a:pPr>
            <a:r>
              <a:rPr lang="en-US" sz="1150" i="1" dirty="0">
                <a:solidFill>
                  <a:srgbClr val="5B6B62"/>
                </a:solidFill>
                <a:latin typeface="Calibri" pitchFamily="34" charset="0"/>
                <a:ea typeface="Calibri" pitchFamily="34" charset="-122"/>
                <a:cs typeface="Calibri" pitchFamily="34" charset="-120"/>
              </a:rPr>
              <a:t>Fundraising overlaps the pilot deliberately — traction evidence accumulates while conversations with investors begin.</a:t>
            </a:r>
            <a:endParaRPr lang="en-US" sz="1150" dirty="0"/>
          </a:p>
        </p:txBody>
      </p:sp>
      <p:sp>
        <p:nvSpPr>
          <p:cNvPr id="42" name="Text 40"/>
          <p:cNvSpPr/>
          <p:nvPr/>
        </p:nvSpPr>
        <p:spPr>
          <a:xfrm>
            <a:off x="457200" y="6537960"/>
            <a:ext cx="3657600" cy="274320"/>
          </a:xfrm>
          <a:prstGeom prst="rect">
            <a:avLst/>
          </a:prstGeom>
          <a:noFill/>
          <a:ln/>
        </p:spPr>
        <p:txBody>
          <a:bodyPr wrap="square" rtlCol="0" anchor="ctr"/>
          <a:lstStyle/>
          <a:p>
            <a:pPr indent="0" marL="0">
              <a:buNone/>
            </a:pPr>
            <a:r>
              <a:rPr lang="en-US" sz="900" b="1" dirty="0">
                <a:solidFill>
                  <a:srgbClr val="5B6B62"/>
                </a:solidFill>
                <a:latin typeface="Cambria" pitchFamily="34" charset="0"/>
                <a:ea typeface="Cambria" pitchFamily="34" charset="-122"/>
                <a:cs typeface="Cambria" pitchFamily="34" charset="-120"/>
              </a:rPr>
              <a:t>DAKTARI MTAANI</a:t>
            </a:r>
            <a:endParaRPr lang="en-US" sz="900" dirty="0"/>
          </a:p>
        </p:txBody>
      </p:sp>
      <p:sp>
        <p:nvSpPr>
          <p:cNvPr id="43" name="Text 41"/>
          <p:cNvSpPr/>
          <p:nvPr/>
        </p:nvSpPr>
        <p:spPr>
          <a:xfrm>
            <a:off x="4114800" y="6537960"/>
            <a:ext cx="3931920" cy="274320"/>
          </a:xfrm>
          <a:prstGeom prst="rect">
            <a:avLst/>
          </a:prstGeom>
          <a:noFill/>
          <a:ln/>
        </p:spPr>
        <p:txBody>
          <a:bodyPr wrap="square" rtlCol="0" anchor="ctr"/>
          <a:lstStyle/>
          <a:p>
            <a:pPr algn="ctr" indent="0" marL="0">
              <a:buNone/>
            </a:pPr>
            <a:r>
              <a:rPr lang="en-US" sz="900" dirty="0">
                <a:solidFill>
                  <a:srgbClr val="5B6B62"/>
                </a:solidFill>
                <a:latin typeface="Calibri" pitchFamily="34" charset="0"/>
                <a:ea typeface="Calibri" pitchFamily="34" charset="-122"/>
                <a:cs typeface="Calibri" pitchFamily="34" charset="-120"/>
              </a:rPr>
              <a:t>Indicative Timeline</a:t>
            </a:r>
            <a:endParaRPr lang="en-US" sz="900" dirty="0"/>
          </a:p>
        </p:txBody>
      </p:sp>
      <p:sp>
        <p:nvSpPr>
          <p:cNvPr id="44" name="Text 42"/>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D28"/>
        </a:solidFill>
      </p:bgPr>
    </p:bg>
    <p:spTree>
      <p:nvGrpSpPr>
        <p:cNvPr id="1" name=""/>
        <p:cNvGrpSpPr/>
        <p:nvPr/>
      </p:nvGrpSpPr>
      <p:grpSpPr>
        <a:xfrm>
          <a:off x="0" y="0"/>
          <a:ext cx="0" cy="0"/>
          <a:chOff x="0" y="0"/>
          <a:chExt cx="0" cy="0"/>
        </a:xfrm>
      </p:grpSpPr>
      <p:sp>
        <p:nvSpPr>
          <p:cNvPr id="2" name="Text 0"/>
          <p:cNvSpPr/>
          <p:nvPr/>
        </p:nvSpPr>
        <p:spPr>
          <a:xfrm>
            <a:off x="548640" y="502920"/>
            <a:ext cx="7315200" cy="365760"/>
          </a:xfrm>
          <a:prstGeom prst="rect">
            <a:avLst/>
          </a:prstGeom>
          <a:noFill/>
          <a:ln/>
        </p:spPr>
        <p:txBody>
          <a:bodyPr wrap="square" rtlCol="0" anchor="ctr"/>
          <a:lstStyle/>
          <a:p>
            <a:pPr indent="0" marL="0">
              <a:buNone/>
            </a:pPr>
            <a:r>
              <a:rPr lang="en-US" sz="1200" b="1" spc="200" kern="0" dirty="0">
                <a:solidFill>
                  <a:srgbClr val="E08C3E"/>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548640" y="82296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get Phase 0 moving</a:t>
            </a:r>
            <a:endParaRPr lang="en-US" sz="3000" dirty="0"/>
          </a:p>
        </p:txBody>
      </p:sp>
      <p:sp>
        <p:nvSpPr>
          <p:cNvPr id="4" name="Shape 2"/>
          <p:cNvSpPr/>
          <p:nvPr/>
        </p:nvSpPr>
        <p:spPr>
          <a:xfrm>
            <a:off x="548640" y="1920240"/>
            <a:ext cx="594360" cy="594360"/>
          </a:xfrm>
          <a:prstGeom prst="ellipse">
            <a:avLst/>
          </a:prstGeom>
          <a:solidFill>
            <a:srgbClr val="1D5A3C"/>
          </a:solidFill>
          <a:ln w="19050">
            <a:solidFill>
              <a:srgbClr val="E08C3E"/>
            </a:solidFill>
            <a:prstDash val="solid"/>
          </a:ln>
        </p:spPr>
      </p:sp>
      <p:sp>
        <p:nvSpPr>
          <p:cNvPr id="5" name="Text 3"/>
          <p:cNvSpPr/>
          <p:nvPr/>
        </p:nvSpPr>
        <p:spPr>
          <a:xfrm>
            <a:off x="548640" y="1920240"/>
            <a:ext cx="594360" cy="594360"/>
          </a:xfrm>
          <a:prstGeom prst="rect">
            <a:avLst/>
          </a:prstGeom>
          <a:noFill/>
          <a:ln/>
        </p:spPr>
        <p:txBody>
          <a:bodyPr wrap="square" rtlCol="0" anchor="ctr"/>
          <a:lstStyle/>
          <a:p>
            <a:pPr algn="ctr" indent="0" marL="0">
              <a:buNone/>
            </a:pPr>
            <a:r>
              <a:rPr lang="en-US" sz="1800" b="1" dirty="0">
                <a:solidFill>
                  <a:srgbClr val="E08C3E"/>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71600" y="1920240"/>
            <a:ext cx="9144000" cy="5943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Confirm the pilot area and target patient group</a:t>
            </a:r>
            <a:endParaRPr lang="en-US" sz="1500" dirty="0"/>
          </a:p>
        </p:txBody>
      </p:sp>
      <p:sp>
        <p:nvSpPr>
          <p:cNvPr id="7" name="Shape 5"/>
          <p:cNvSpPr/>
          <p:nvPr/>
        </p:nvSpPr>
        <p:spPr>
          <a:xfrm>
            <a:off x="548640" y="2926080"/>
            <a:ext cx="594360" cy="594360"/>
          </a:xfrm>
          <a:prstGeom prst="ellipse">
            <a:avLst/>
          </a:prstGeom>
          <a:solidFill>
            <a:srgbClr val="1D5A3C"/>
          </a:solidFill>
          <a:ln w="19050">
            <a:solidFill>
              <a:srgbClr val="E08C3E"/>
            </a:solidFill>
            <a:prstDash val="solid"/>
          </a:ln>
        </p:spPr>
      </p:sp>
      <p:sp>
        <p:nvSpPr>
          <p:cNvPr id="8" name="Text 6"/>
          <p:cNvSpPr/>
          <p:nvPr/>
        </p:nvSpPr>
        <p:spPr>
          <a:xfrm>
            <a:off x="548640" y="2926080"/>
            <a:ext cx="594360" cy="594360"/>
          </a:xfrm>
          <a:prstGeom prst="rect">
            <a:avLst/>
          </a:prstGeom>
          <a:noFill/>
          <a:ln/>
        </p:spPr>
        <p:txBody>
          <a:bodyPr wrap="square" rtlCol="0" anchor="ctr"/>
          <a:lstStyle/>
          <a:p>
            <a:pPr algn="ctr" indent="0" marL="0">
              <a:buNone/>
            </a:pPr>
            <a:r>
              <a:rPr lang="en-US" sz="1800" b="1" dirty="0">
                <a:solidFill>
                  <a:srgbClr val="E08C3E"/>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71600" y="2926080"/>
            <a:ext cx="9144000" cy="5943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Introduce the clinical partner / lead doctor for the platform</a:t>
            </a:r>
            <a:endParaRPr lang="en-US" sz="1500" dirty="0"/>
          </a:p>
        </p:txBody>
      </p:sp>
      <p:sp>
        <p:nvSpPr>
          <p:cNvPr id="10" name="Shape 8"/>
          <p:cNvSpPr/>
          <p:nvPr/>
        </p:nvSpPr>
        <p:spPr>
          <a:xfrm>
            <a:off x="548640" y="3931920"/>
            <a:ext cx="594360" cy="594360"/>
          </a:xfrm>
          <a:prstGeom prst="ellipse">
            <a:avLst/>
          </a:prstGeom>
          <a:solidFill>
            <a:srgbClr val="1D5A3C"/>
          </a:solidFill>
          <a:ln w="19050">
            <a:solidFill>
              <a:srgbClr val="E08C3E"/>
            </a:solidFill>
            <a:prstDash val="solid"/>
          </a:ln>
        </p:spPr>
      </p:sp>
      <p:sp>
        <p:nvSpPr>
          <p:cNvPr id="11" name="Text 9"/>
          <p:cNvSpPr/>
          <p:nvPr/>
        </p:nvSpPr>
        <p:spPr>
          <a:xfrm>
            <a:off x="548640" y="3931920"/>
            <a:ext cx="594360" cy="594360"/>
          </a:xfrm>
          <a:prstGeom prst="rect">
            <a:avLst/>
          </a:prstGeom>
          <a:noFill/>
          <a:ln/>
        </p:spPr>
        <p:txBody>
          <a:bodyPr wrap="square" rtlCol="0" anchor="ctr"/>
          <a:lstStyle/>
          <a:p>
            <a:pPr algn="ctr" indent="0" marL="0">
              <a:buNone/>
            </a:pPr>
            <a:r>
              <a:rPr lang="en-US" sz="1800" b="1" dirty="0">
                <a:solidFill>
                  <a:srgbClr val="E08C3E"/>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71600" y="3931920"/>
            <a:ext cx="9144000" cy="5943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Sign off on this work plan and the accompanying technical scope</a:t>
            </a:r>
            <a:endParaRPr lang="en-US" sz="1500" dirty="0"/>
          </a:p>
        </p:txBody>
      </p:sp>
      <p:sp>
        <p:nvSpPr>
          <p:cNvPr id="13" name="Shape 11"/>
          <p:cNvSpPr/>
          <p:nvPr/>
        </p:nvSpPr>
        <p:spPr>
          <a:xfrm>
            <a:off x="548640" y="4937760"/>
            <a:ext cx="594360" cy="594360"/>
          </a:xfrm>
          <a:prstGeom prst="ellipse">
            <a:avLst/>
          </a:prstGeom>
          <a:solidFill>
            <a:srgbClr val="1D5A3C"/>
          </a:solidFill>
          <a:ln w="19050">
            <a:solidFill>
              <a:srgbClr val="E08C3E"/>
            </a:solidFill>
            <a:prstDash val="solid"/>
          </a:ln>
        </p:spPr>
      </p:sp>
      <p:sp>
        <p:nvSpPr>
          <p:cNvPr id="14" name="Text 12"/>
          <p:cNvSpPr/>
          <p:nvPr/>
        </p:nvSpPr>
        <p:spPr>
          <a:xfrm>
            <a:off x="548640" y="4937760"/>
            <a:ext cx="594360" cy="594360"/>
          </a:xfrm>
          <a:prstGeom prst="rect">
            <a:avLst/>
          </a:prstGeom>
          <a:noFill/>
          <a:ln/>
        </p:spPr>
        <p:txBody>
          <a:bodyPr wrap="square" rtlCol="0" anchor="ctr"/>
          <a:lstStyle/>
          <a:p>
            <a:pPr algn="ctr" indent="0" marL="0">
              <a:buNone/>
            </a:pPr>
            <a:r>
              <a:rPr lang="en-US" sz="1800" b="1" dirty="0">
                <a:solidFill>
                  <a:srgbClr val="E08C3E"/>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71600" y="4937760"/>
            <a:ext cx="9144000" cy="5943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Kick off Phase 0 — discovery and compliance setup</a:t>
            </a:r>
            <a:endParaRPr lang="en-US" sz="1500" dirty="0"/>
          </a:p>
        </p:txBody>
      </p:sp>
      <p:sp>
        <p:nvSpPr>
          <p:cNvPr id="16" name="Shape 14"/>
          <p:cNvSpPr/>
          <p:nvPr/>
        </p:nvSpPr>
        <p:spPr>
          <a:xfrm>
            <a:off x="548640" y="5806440"/>
            <a:ext cx="5486400" cy="0"/>
          </a:xfrm>
          <a:prstGeom prst="line">
            <a:avLst/>
          </a:prstGeom>
          <a:noFill/>
          <a:ln w="12700">
            <a:solidFill>
              <a:srgbClr val="3D7A5C"/>
            </a:solidFill>
            <a:prstDash val="solid"/>
          </a:ln>
        </p:spPr>
      </p:sp>
      <p:sp>
        <p:nvSpPr>
          <p:cNvPr id="17" name="Text 15"/>
          <p:cNvSpPr/>
          <p:nvPr/>
        </p:nvSpPr>
        <p:spPr>
          <a:xfrm>
            <a:off x="548640" y="5943600"/>
            <a:ext cx="10515600" cy="640080"/>
          </a:xfrm>
          <a:prstGeom prst="rect">
            <a:avLst/>
          </a:prstGeom>
          <a:noFill/>
          <a:ln/>
        </p:spPr>
        <p:txBody>
          <a:bodyPr wrap="square" rtlCol="0" anchor="ctr"/>
          <a:lstStyle/>
          <a:p>
            <a:pPr indent="0" marL="0">
              <a:lnSpc>
                <a:spcPct val="120000"/>
              </a:lnSpc>
              <a:buNone/>
            </a:pPr>
            <a:r>
              <a:rPr lang="en-US" sz="1250" i="1" dirty="0">
                <a:solidFill>
                  <a:srgbClr val="D9E9DF"/>
                </a:solidFill>
                <a:latin typeface="Calibri" pitchFamily="34" charset="0"/>
                <a:ea typeface="Calibri" pitchFamily="34" charset="-122"/>
                <a:cs typeface="Calibri" pitchFamily="34" charset="-120"/>
              </a:rPr>
              <a:t>Starting lean, proving the model with real usage, and letting the pilot fund the fundraising story is the fastest realistic path to a Daktari Mtaani that works at national scale.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2026-08-20T19:31:34Z</dcterms:created>
  <dcterms:modified xsi:type="dcterms:W3CDTF">2026-08-20T19:31:34Z</dcterms:modified>
</cp:coreProperties>
</file>